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Han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Han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Han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大家好，今天我来给大家做一个关于 DreamMaker Scheduler 的架构分享。</a:t>
            </a:r>
          </a:p>
          <a:p>
            <a:pPr/>
            <a:endParaRPr lang="zh-Hans" dirty="0"/>
          </a:p>
          <a:p>
            <a:pPr/>
            <a:r>
              <a:rPr lang="zh-Hans" dirty="0"/>
              <a:t>DreamMaker 是我们网易互娱内部的 AI 美术平台，它把市面上各种 AI 模型——文生图、图生视频、3D 生成、语音等等——统一封装成了内部服务。</a:t>
            </a:r>
          </a:p>
          <a:p>
            <a:pPr/>
            <a:endParaRPr lang="zh-Hans" dirty="0"/>
          </a:p>
          <a:p>
            <a:pPr/>
            <a:r>
              <a:rPr lang="zh-Hans" dirty="0"/>
              <a:t>而 Scheduler，就是这个平台的后端微服务集群。它负责的事情用一句话概括就是：把 AI 生成任务从用户提交到 GPU Worker 执行，全流程调度。</a:t>
            </a:r>
          </a:p>
          <a:p>
            <a:pPr/>
            <a:endParaRPr lang="zh-Hans" dirty="0"/>
          </a:p>
          <a:p>
            <a:pPr/>
            <a:r>
              <a:rPr lang="zh-Hans" dirty="0"/>
              <a:t>今天这个分享大概 15 分钟，我会从整体架构讲起，然后深入任务调度和高可用机制。听完之后，大家应该能够用自己的话描述"一个 AI 任务从提交到返回结果到底经过了哪些组件"。</a:t>
            </a:r>
          </a:p>
          <a:p>
            <a:pPr/>
            <a:endParaRPr lang="zh-Hans" dirty="0"/>
          </a:p>
          <a:p>
            <a:pPr/>
            <a:r>
              <a:rPr lang="zh-Hans" dirty="0"/>
              <a:t>我们开始。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首先看 Scheduler 的技术全貌。</a:t>
            </a:r>
          </a:p>
          <a:p>
            <a:pPr/>
            <a:endParaRPr lang="zh-Hans" dirty="0"/>
          </a:p>
          <a:p>
            <a:pPr/>
            <a:r>
              <a:rPr lang="zh-Hans" dirty="0"/>
              <a:t>一句话定位：Scheduler 是一个 Go 微服务集群，加上 Redis 任务队列、MongoDB 记录中心、etcd Worker 注册中心、K8s 服务发现，以及我们内部的 dmfr 框架。</a:t>
            </a:r>
          </a:p>
          <a:p>
            <a:pPr/>
            <a:endParaRPr lang="zh-Hans" dirty="0"/>
          </a:p>
          <a:p>
            <a:pPr/>
            <a:r>
              <a:rPr lang="zh-Hans" dirty="0"/>
              <a:t>右边这个表列出了核心技术栈。Go 加 dmfr 是我们统一的微服务框架，提供 HTTP Server、Client、日志、错误码这些标准化能力。Redis 用 ZSet 来做任务队列和乐观抢占。MongoDB 是任务记录中心，所有的参数、状态、结果都长期存在这里。etcd 做 Worker 和 Task 的运行态注册。Kafka 负责任务完成后通知下游的监控和统计系统。K8s 加 Istio 做服务发现和统一鉴权。HTTP 框架方面，新代码用 Hertz，老代码保留 Fiber。</a:t>
            </a:r>
          </a:p>
          <a:p>
            <a:pPr/>
            <a:endParaRPr lang="zh-Hans" dirty="0"/>
          </a:p>
          <a:p>
            <a:pPr/>
            <a:r>
              <a:rPr lang="zh-Hans" dirty="0"/>
              <a:t>大家不用一次记住所有的，后面我们会逐个展开。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Scheduler 整体分为五层，每层有明确的职责边界。</a:t>
            </a:r>
          </a:p>
          <a:p>
            <a:pPr/>
            <a:endParaRPr lang="zh-Hans" dirty="0"/>
          </a:p>
          <a:p>
            <a:pPr/>
            <a:r>
              <a:rPr lang="zh-Hans" dirty="0"/>
              <a:t>最上面是外部请求层——前端主站、Monet 客户端、内部工具。它们只做一件事：组装 HTTP 请求、携带鉴权 Header。</a:t>
            </a:r>
          </a:p>
          <a:p>
            <a:pPr/>
            <a:endParaRPr lang="zh-Hans" dirty="0"/>
          </a:p>
          <a:p>
            <a:pPr/>
            <a:r>
              <a:rPr lang="zh-Hans" dirty="0"/>
              <a:t>第二层是业务服务层——api-outer 和 app-gateway。这一层负责参数校验、鉴权、参数映射和入队。注意，它不能直接调用 Worker，也不做 GPU 调度。</a:t>
            </a:r>
          </a:p>
          <a:p>
            <a:pPr/>
            <a:endParaRPr lang="zh-Hans" dirty="0"/>
          </a:p>
          <a:p>
            <a:pPr/>
            <a:r>
              <a:rPr lang="zh-Hans" dirty="0"/>
              <a:t>第三层是基础设施层——worker-scheduler。它从 Redis 拉队列、分配任务、回写结果。它不关心具体的推理逻辑。</a:t>
            </a:r>
          </a:p>
          <a:p>
            <a:pPr/>
            <a:endParaRPr lang="zh-Hans" dirty="0"/>
          </a:p>
          <a:p>
            <a:pPr/>
            <a:r>
              <a:rPr lang="zh-Hans" dirty="0"/>
              <a:t>第四层是 Worker 执行层——worker-sidecar 加上各类 Worker。它们接收任务、执行推理、上报结果。注意，Worker 不能反向依赖 app-gateway。</a:t>
            </a:r>
          </a:p>
          <a:p>
            <a:pPr/>
            <a:endParaRPr lang="zh-Hans" dirty="0"/>
          </a:p>
          <a:p>
            <a:pPr/>
            <a:r>
              <a:rPr lang="zh-Hans" dirty="0"/>
              <a:t>最底层是外部供应商层——ComfyUI、SD-WebUI、火山、Kling、Runway 这些。它们做实际的 AI 推理。</a:t>
            </a:r>
          </a:p>
          <a:p>
            <a:pPr/>
            <a:endParaRPr lang="zh-Hans" dirty="0"/>
          </a:p>
          <a:p>
            <a:pPr/>
            <a:r>
              <a:rPr lang="zh-Hans" dirty="0"/>
              <a:t>核心原则就一句话：每层只做自己的事，不越界。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接下来我们看三个最核心的组件。</a:t>
            </a:r>
          </a:p>
          <a:p>
            <a:pPr/>
            <a:endParaRPr lang="zh-Hans" dirty="0"/>
          </a:p>
          <a:p>
            <a:pPr/>
            <a:r>
              <a:rPr lang="zh-Hans" dirty="0"/>
              <a:t>第一个是 app-gateway，它是任务入口。它做四件事：权限校验、参数映射、往 Mongo 写 AppRecord、往 Redis 入队，然后立即返回一个 task_id。为什么不能绕过它？因为它是唯一的鉴权入口，确保安全；所有任务必须创建 AppRecord，确保可观测；任务状态机依赖它建立初始状态，确保一致性。</a:t>
            </a:r>
          </a:p>
          <a:p>
            <a:pPr/>
            <a:endParaRPr lang="zh-Hans" dirty="0"/>
          </a:p>
          <a:p>
            <a:pPr/>
            <a:r>
              <a:rPr lang="zh-Hans" dirty="0"/>
              <a:t>第二个是 worker-scheduler，调度核心。它是多 Pod 并行的，没有 Leader 选举。它从 Redis 拉任务，从 Mongo 加载完整消息，注册到 etcd，然后下发给 Worker。这里有个关键设计：Worker Pull 模型。不是 scheduler 推任务给 Worker，而是 Worker 主动上报"我空闲了"，scheduler 才下发。这是天然的背压机制，Worker 永远不会被打爆。</a:t>
            </a:r>
          </a:p>
          <a:p>
            <a:pPr/>
            <a:endParaRPr lang="zh-Hans" dirty="0"/>
          </a:p>
          <a:p>
            <a:pPr/>
            <a:r>
              <a:rPr lang="zh-Hans" dirty="0"/>
              <a:t>第三个是 worker-sidecar，异构后端适配器。它是经典的 Adapter Pattern，把 scheduler 的派发逻辑和具体的推理后端解耦。新增一个 AI 能力时，scheduler 的代码不需要改，只需要在 sidecar 里新增 worker 实现。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很多人会问：为什么要用三套存储？Redis、MongoDB、etcd 各管各的，不能一套搞定吗？</a:t>
            </a:r>
          </a:p>
          <a:p>
            <a:pPr/>
            <a:endParaRPr lang="zh-Hans" dirty="0"/>
          </a:p>
          <a:p>
            <a:pPr/>
            <a:r>
              <a:rPr lang="zh-Hans" dirty="0"/>
              <a:t>答案是：不同语义用不同存储。</a:t>
            </a:r>
          </a:p>
          <a:p>
            <a:pPr/>
            <a:endParaRPr lang="zh-Hans" dirty="0"/>
          </a:p>
          <a:p>
            <a:pPr/>
            <a:r>
              <a:rPr lang="zh-Hans" dirty="0"/>
              <a:t>Redis 是短生命周期的"待消费"队列。用 ZSet 排序，member 只存 user 和 taskID，体积小、排序快。同时还给前端的 /status 接口做缓存，亚秒响应。</a:t>
            </a:r>
          </a:p>
          <a:p>
            <a:pPr/>
            <a:endParaRPr lang="zh-Hans" dirty="0"/>
          </a:p>
          <a:p>
            <a:pPr/>
            <a:r>
              <a:rPr lang="zh-Hans" dirty="0"/>
              <a:t>MongoDB 是长生命周期的"任务记录中心"。任务的所有参数、状态、结果都全量存在这里，用于查询、审计、计费。</a:t>
            </a:r>
          </a:p>
          <a:p>
            <a:pPr/>
            <a:endParaRPr lang="zh-Hans" dirty="0"/>
          </a:p>
          <a:p>
            <a:pPr/>
            <a:r>
              <a:rPr lang="zh-Hans" dirty="0"/>
              <a:t>etcd 是运行态的"强一致注册中心"。它有 Lease 和 Watch 两个杀手特性。Worker 挂掉之后，Lease 过期，key 自动删除，scheduler 通过 Watch 立刻感知。Mongo 做不到这种"心跳自动清理"。</a:t>
            </a:r>
          </a:p>
          <a:p>
            <a:pPr/>
            <a:endParaRPr lang="zh-Hans" dirty="0"/>
          </a:p>
          <a:p>
            <a:pPr/>
            <a:r>
              <a:rPr lang="zh-Hans" dirty="0"/>
              <a:t>底部这句话请大家记住：不同语义用不同存储，不要强求一套搞定——这是经典的分布式系统取舍。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现在我们把前面的内容串起来，看一个任务从提交到完成的完整链路。</a:t>
            </a:r>
          </a:p>
          <a:p>
            <a:pPr/>
            <a:endParaRPr lang="zh-Hans" dirty="0"/>
          </a:p>
          <a:p>
            <a:pPr/>
            <a:r>
              <a:rPr lang="zh-Hans" dirty="0"/>
              <a:t>分三个阶段。</a:t>
            </a:r>
          </a:p>
          <a:p>
            <a:pPr/>
            <a:endParaRPr lang="zh-Hans" dirty="0"/>
          </a:p>
          <a:p>
            <a:pPr/>
            <a:r>
              <a:rPr lang="zh-Hans" dirty="0"/>
              <a:t>提交阶段：客户端发请求到 api-outer，JWT 鉴权通过后转给 app-gateway，权限校验加参数映射，然后往 Mongo 写 AppRecord，往 Redis ZAdd 入队，最后立即返回 task_id。注意，这里是完全异步的，提交后不等执行。</a:t>
            </a:r>
          </a:p>
          <a:p>
            <a:pPr/>
            <a:endParaRPr lang="zh-Hans" dirty="0"/>
          </a:p>
          <a:p>
            <a:pPr/>
            <a:r>
              <a:rPr lang="zh-Hans" dirty="0"/>
              <a:t>调度阶段：Worker 上报"我空闲了"，scheduler 先用 WeightedScheduler 选优先级，再 ZRange 扫描候选，ZRem 原子抢占，从 Mongo 加载完整消息，注册到 etcd，然后下发 JobReportData 给 Worker。</a:t>
            </a:r>
          </a:p>
          <a:p>
            <a:pPr/>
            <a:endParaRPr lang="zh-Hans" dirty="0"/>
          </a:p>
          <a:p>
            <a:pPr/>
            <a:r>
              <a:rPr lang="zh-Hans" dirty="0"/>
              <a:t>执行回写阶段：Worker 执行推理，上报结果，scheduler 调用 AfterCall 和 MapCallResponse 处理结果，写 Mongo Success，Kafka 通知下游，最后删除 etcd 中的 running 注册。</a:t>
            </a:r>
          </a:p>
          <a:p>
            <a:pPr/>
            <a:endParaRPr lang="zh-Hans" dirty="0"/>
          </a:p>
          <a:p>
            <a:pPr/>
            <a:r>
              <a:rPr lang="zh-Hans" dirty="0"/>
              <a:t>客户端通过 GET /status 轮询来获取结果。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每个任务有 5 种状态：queued、running、success、failed、stopped。</a:t>
            </a:r>
          </a:p>
          <a:p>
            <a:pPr/>
            <a:endParaRPr lang="zh-Hans" dirty="0"/>
          </a:p>
          <a:p>
            <a:pPr/>
            <a:r>
              <a:rPr lang="zh-Hans" dirty="0"/>
              <a:t>代码层面用 Action 编排模式。设计模式是 Template Method 加 Strategy。分三层：Base 层实现公共逻辑，commonAction 层实现 ZSet 队列的入队、出队和抢占，大多数新供应商直接复用这一层就够了。只有工作流差异很大的才需要写专用 action。</a:t>
            </a:r>
          </a:p>
          <a:p>
            <a:pPr/>
            <a:endParaRPr lang="zh-Hans" dirty="0"/>
          </a:p>
          <a:p>
            <a:pPr/>
            <a:r>
              <a:rPr lang="zh-Hans" dirty="0"/>
              <a:t>编排链路是：BeforeProduce、Produce、Consume、BeforeCall、GenerateTask、AfterCall。</a:t>
            </a:r>
          </a:p>
          <a:p>
            <a:pPr/>
            <a:endParaRPr lang="zh-Hans" dirty="0"/>
          </a:p>
          <a:p>
            <a:pPr/>
            <a:r>
              <a:rPr lang="zh-Hans" dirty="0"/>
              <a:t>还有一个有意思的设计：Go 的类型断言做能力检测。不同 action 需要不同的能力，比如有的需要 RequestMapper 做参数映射，有的需要 Generator 生成 JobData。与其放在一个大接口里强制空实现，不如用类型断言实现接口隔离原则。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这是调度的核心机制。</a:t>
            </a:r>
          </a:p>
          <a:p>
            <a:pPr/>
            <a:endParaRPr lang="zh-Hans" dirty="0"/>
          </a:p>
          <a:p>
            <a:pPr/>
            <a:r>
              <a:rPr lang="zh-Hans" dirty="0"/>
              <a:t>ZSet 的设计有几个亮点。score 用毫秒时间戳，保证同优先级内 FIFO。member 只存 user 和 taskID，完整数据在 Mongo——这是关注点分离。抢占用 ZRem，返回值大于等于 1 就是抢到了。这是原子操作，不需要 Lua 脚本。因为 ZRange 只是 peek，真正的竞争点在 ZRem。多个 scheduler 同时 ZRange 到同一个 member 没关系，谁先 ZRem 谁赢。</a:t>
            </a:r>
          </a:p>
          <a:p>
            <a:pPr/>
            <a:endParaRPr lang="zh-Hans" dirty="0"/>
          </a:p>
          <a:p>
            <a:pPr/>
            <a:r>
              <a:rPr lang="zh-Hans" dirty="0"/>
              <a:t>队列不是一个大队列，而是按 priority、source、taskMode、cluster 拆成多个小队列。好处是：不同集群隔离、独立限流、支持优先级调度、小队列 ZRange 更快。</a:t>
            </a:r>
          </a:p>
          <a:p>
            <a:pPr/>
            <a:endParaRPr lang="zh-Hans" dirty="0"/>
          </a:p>
          <a:p>
            <a:pPr/>
            <a:r>
              <a:rPr lang="zh-Hans" dirty="0"/>
              <a:t>消费时用两轮扫描策略。第一轮跳过有并发冲突的用户，优先分配给没有运行中任务的人——这是公平性。如果第一轮没抢到，第二轮消费冲突任务——保证吞吐量。这是经典的公平性和吞吐量的权衡。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优先级调度用 WeightedScheduler，加权轮转。配置比如 priority 2 权重 5、priority 1 权重 3、priority 0 权重 2，那么每 10 次消费中高优先级 5 次、中 3 次、低 2 次。配额耗尽就重置，保证最低优先级每轮至少被消费 1 次，防饥饿。高优先级队列为空时，低优先级立即有机会，这是降序兜底。</a:t>
            </a:r>
          </a:p>
          <a:p>
            <a:pPr/>
            <a:endParaRPr lang="zh-Hans" dirty="0"/>
          </a:p>
          <a:p>
            <a:pPr/>
            <a:r>
              <a:rPr lang="zh-Hans" dirty="0"/>
              <a:t>并发控制用 ConcurrentManager，用 CAS 原子操作。低竞争场景下 CAS 比 Mutex 性能更好。并发数同步靠 etcd Watch 驱动：任务注册到 etcd 时所有 Pod 收到 Put 事件加 1，任务完成删除时所有 Pod 收到 Delete 事件减 1。这是最终一致的，有毫秒级延迟，但对实际场景完全可以接受。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etcd 在这个系统中有四大核心能力。Put、Get、Delete 是基本读写。Watch 是监听变化实时推送。Lease 是给 key 绑 TTL，到期自动删除。Txn 是乐观锁事务。</a:t>
            </a:r>
          </a:p>
          <a:p>
            <a:pPr/>
            <a:endParaRPr lang="zh-Hans" dirty="0"/>
          </a:p>
          <a:p>
            <a:pPr/>
            <a:r>
              <a:rPr lang="zh-Hans" dirty="0"/>
              <a:t>Key 设计为 /worker/{env}/{podName} 和 /task/{env}/{taskID}，中间的 env 实现多环境隔离。</a:t>
            </a:r>
          </a:p>
          <a:p>
            <a:pPr/>
            <a:endParaRPr lang="zh-Hans" dirty="0"/>
          </a:p>
          <a:p>
            <a:pPr/>
            <a:r>
              <a:rPr lang="zh-Hans" dirty="0"/>
              <a:t>心跳机制：Sidecar 每 30 秒发心跳给 Scheduler，Scheduler 用 Txn 乐观锁写回 etcd，同时绑定最新 Lease。</a:t>
            </a:r>
          </a:p>
          <a:p>
            <a:pPr/>
            <a:endParaRPr lang="zh-Hans" dirty="0"/>
          </a:p>
          <a:p>
            <a:pPr/>
            <a:r>
              <a:rPr lang="zh-Hans" dirty="0"/>
              <a:t>故障检测链路：Worker 崩溃后心跳停止，Lease 过期，etcd 自动删除 key，触发 Watch Delete 事件，Scheduler 清理缓存并恢复并发计数。这样该用户的任务槽就释放了，可以提交新任务。</a:t>
            </a:r>
          </a:p>
          <a:p>
            <a:pPr/>
            <a:endParaRPr lang="zh-Hans" dirty="0"/>
          </a:p>
          <a:p>
            <a:pPr/>
            <a:r>
              <a:rPr lang="zh-Hans" dirty="0"/>
              <a:t>设计选择上用 Grant 每 300 秒重新创建 Lease，而不是 KeepAlive。TTL 设为 7200 秒，远大于 Grant 间隔，防止误删。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Worker 有五种状态：pending、running、recovering、terminating、terminated。处于 terminated 或 terminating 状态的 Worker 不参与任务分配。</a:t>
            </a:r>
          </a:p>
          <a:p>
            <a:pPr/>
            <a:endParaRPr lang="zh-Hans" dirty="0"/>
          </a:p>
          <a:p>
            <a:pPr/>
            <a:r>
              <a:rPr lang="zh-Hans" dirty="0"/>
              <a:t>Sidecar 优雅关闭是两阶段的。收到 K8s SIGTERM 后，先上报 shutdown，状态变为 terminating——这时不接新任务，但已有任务可以继续执行。等所有任务完成后，上报 exit，状态变为 terminated。这个两阶段设计保证了任务不会中途被杀。</a:t>
            </a:r>
          </a:p>
          <a:p>
            <a:pPr/>
            <a:endParaRPr lang="zh-Hans" dirty="0"/>
          </a:p>
          <a:p>
            <a:pPr/>
            <a:r>
              <a:rPr lang="zh-Hans" dirty="0"/>
              <a:t>Autoscaler 方面，K8s 原生的 HPA 看的是 CPU 和 Memory，但 GPU Worker 可能 GPU 负载高而 CPU 低，HPA 看不到 GPU 任务队列长度。所以我们自定义了 Autoscaler，直接读 Redis 队列长度来决策。30 秒定时触发，用 Redis 分布式锁保证同一时刻只有一个 Pod 在执行。扩容是唤醒 terminated 状态的 Worker，缩容是删除空闲超时的 Worker。安全检查方面，如果有 pending 或 terminating 的 Worker 就跳过本轮，防止雪球式过度扩容。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Hans" dirty="0"/>
              <a:t>最后总结五个核心设计决策。</a:t>
            </a:r>
          </a:p>
          <a:p>
            <a:pPr/>
            <a:endParaRPr lang="zh-Hans" dirty="0"/>
          </a:p>
          <a:p>
            <a:pPr/>
            <a:r>
              <a:rPr lang="zh-Hans" dirty="0"/>
              <a:t>第一，三套存储各司其职。Redis 做吞吐，Mongo 做持久，etcd 做一致性。</a:t>
            </a:r>
          </a:p>
          <a:p>
            <a:pPr/>
            <a:endParaRPr lang="zh-Hans" dirty="0"/>
          </a:p>
          <a:p>
            <a:pPr/>
            <a:r>
              <a:rPr lang="zh-Hans" dirty="0"/>
              <a:t>第二，Worker Pull 模型。天然背压，Worker 不会被打爆。</a:t>
            </a:r>
          </a:p>
          <a:p>
            <a:pPr/>
            <a:endParaRPr lang="zh-Hans" dirty="0"/>
          </a:p>
          <a:p>
            <a:pPr/>
            <a:r>
              <a:rPr lang="zh-Hans" dirty="0"/>
              <a:t>第三，多 Pod 并行加乐观抢占。etcd Watch 同步状态，Redis ZRem 竞争任务，不需要 Leader 选举。</a:t>
            </a:r>
          </a:p>
          <a:p>
            <a:pPr/>
            <a:endParaRPr lang="zh-Hans" dirty="0"/>
          </a:p>
          <a:p>
            <a:pPr/>
            <a:r>
              <a:rPr lang="zh-Hans" dirty="0"/>
              <a:t>第四，两轮扫描。公平性优先，吞吐量兜底。</a:t>
            </a:r>
          </a:p>
          <a:p>
            <a:pPr/>
            <a:endParaRPr lang="zh-Hans" dirty="0"/>
          </a:p>
          <a:p>
            <a:pPr/>
            <a:r>
              <a:rPr lang="zh-Hans" dirty="0"/>
              <a:t>第五，先加载再 Watch。启动时从 etcd 全量加载建立基线，然后 Watch 做增量更新。</a:t>
            </a:r>
          </a:p>
          <a:p>
            <a:pPr/>
            <a:endParaRPr lang="zh-Hans" dirty="0"/>
          </a:p>
          <a:p>
            <a:pPr/>
            <a:r>
              <a:rPr lang="zh-Hans" dirty="0"/>
              <a:t>最后送大家一句话：不同语义用不同存储，不同场景用不同策略。这就是分布式系统设计的核心智慧。</a:t>
            </a:r>
          </a:p>
          <a:p>
            <a:pPr/>
            <a:endParaRPr lang="zh-Hans" dirty="0"/>
          </a:p>
          <a:p>
            <a:pPr/>
            <a:r>
              <a:rPr lang="zh-Hans" dirty="0"/>
              <a:t>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cheduler-architectu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cheduler-architectu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762000" y="2667000"/>
            <a:ext cx="1143000" cy="381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2882265"/>
            <a:ext cx="516336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3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DreamMaker Scheduler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5236" y="3453765"/>
            <a:ext cx="283227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33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架构深度解析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3618" y="4203382"/>
            <a:ext cx="20158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650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面向新人的系统入门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5334000"/>
            <a:ext cx="571500" cy="2857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904" y="5490210"/>
            <a:ext cx="7714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约 15 分钟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98904" y="5490210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·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9404" y="5490210"/>
            <a:ext cx="27279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20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DreamMaker — 网易互娱 AI 美术平台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572500" y="952500"/>
            <a:ext cx="2857500" cy="4953000"/>
          </a:xfrm>
          <a:prstGeom prst="roundRect">
            <a:avLst>
              <a:gd name="adj" fmla="val 4000"/>
            </a:avLst>
          </a:prstGeom>
          <a:solidFill>
            <a:schemeClr val="lt2">
              <a:alpha val="50000"/>
            </a:scheme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948547" y="1609249"/>
            <a:ext cx="629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Go + dmfr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48547" y="1990249"/>
            <a:ext cx="82984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Redis (ZSet)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48547" y="2371249"/>
            <a:ext cx="5571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MongoDB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48547" y="2752249"/>
            <a:ext cx="30014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etcd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48547" y="3133249"/>
            <a:ext cx="3768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Kafka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8547" y="3514249"/>
            <a:ext cx="6869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K8s + Istio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48547" y="3895249"/>
            <a:ext cx="86380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98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Hertz / Fiber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48166" y="1315402"/>
            <a:ext cx="83397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Hans" sz="1050" b="1" dirty="0">
                <a:solidFill>
                  <a:srgbClr val="94A3B8"/>
                </a:solidFill>
                <a:latin typeface="+mn-lt"/>
                <a:ea typeface="+mn-ea"/>
                <a:cs typeface="+mn-cs"/>
              </a:rPr>
              <a:t>TECH STACK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3660648" cy="541401"/>
            <a:chOff x="457200" y="457200"/>
            <a:chExt cx="3660648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348386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Scheduler 是什么？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7200" y="1047750"/>
            <a:ext cx="11277600" cy="762000"/>
            <a:chOff x="457200" y="1047750"/>
            <a:chExt cx="11277600" cy="762000"/>
          </a:xfrm>
        </p:grpSpPr>
        <p:sp>
          <p:nvSpPr>
            <p:cNvPr id="5" name="Rectangle 5"/>
            <p:cNvSpPr/>
            <p:nvPr/>
          </p:nvSpPr>
          <p:spPr>
            <a:xfrm>
              <a:off x="457200" y="104775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80466" y="12392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核心使命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942" y="1492568"/>
              <a:ext cx="7504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AI 生成任务（文生图、图生视频、3D 等）从用户提交到 GPU Worker 执行，全流程调度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866" y="2077402"/>
            <a:ext cx="5339334" cy="3675698"/>
            <a:chOff x="451866" y="2077402"/>
            <a:chExt cx="5339334" cy="3675698"/>
          </a:xfrm>
        </p:grpSpPr>
        <p:sp>
          <p:nvSpPr>
            <p:cNvPr id="9" name="TextBox 9"/>
            <p:cNvSpPr txBox="1"/>
            <p:nvPr/>
          </p:nvSpPr>
          <p:spPr>
            <a:xfrm>
              <a:off x="451866" y="20774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技术栈速览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7200" y="23622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80085" y="2507456"/>
              <a:ext cx="719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Go + dmfr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61285" y="2507456"/>
              <a:ext cx="2847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微服务框架，统一 HTTP / 日志 / 错误码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57200" y="28575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0085" y="3002756"/>
              <a:ext cx="948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Redis (ZSet)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61285" y="3002756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任务队列 + 乐观抢占 + 状态缓存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7200" y="33528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0085" y="3498056"/>
              <a:ext cx="6368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MongoDB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1285" y="3498056"/>
              <a:ext cx="1988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任务记录中心（AppRecord）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57200" y="38481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085" y="39933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etcd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61285" y="3993356"/>
              <a:ext cx="17725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Worker/Task 运行态注册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200" y="43434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085" y="4488656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Kafka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61285" y="4488656"/>
              <a:ext cx="2295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任务结果通知下游（监控 / 统计）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7200" y="48387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80085" y="4983956"/>
              <a:ext cx="785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K8s + Istio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61285" y="49839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服务发现、流量路由、统一鉴权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7200" y="5334000"/>
              <a:ext cx="5334000" cy="419100"/>
            </a:xfrm>
            <a:prstGeom prst="roundRect">
              <a:avLst>
                <a:gd name="adj" fmla="val 1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0085" y="5479256"/>
              <a:ext cx="987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Hertz / Fiber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61285" y="5479256"/>
              <a:ext cx="2405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HTTP 框架（新 Hertz / 老 Fiber）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2362200"/>
            <a:ext cx="5448300" cy="3390900"/>
            <a:chOff x="6286500" y="2362200"/>
            <a:chExt cx="5448300" cy="3390900"/>
          </a:xfrm>
        </p:grpSpPr>
        <p:sp>
          <p:nvSpPr>
            <p:cNvPr id="32" name="Rectangle 32"/>
            <p:cNvSpPr/>
            <p:nvPr/>
          </p:nvSpPr>
          <p:spPr>
            <a:xfrm>
              <a:off x="6286500" y="2362200"/>
              <a:ext cx="5448300" cy="3390900"/>
            </a:xfrm>
            <a:prstGeom prst="roundRect">
              <a:avLst>
                <a:gd name="adj" fmla="val 280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61404" y="26327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一句话架构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642" y="2997518"/>
              <a:ext cx="1028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Scheduler =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1904" y="3347085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Go 微服务集群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1904" y="3632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0029" y="3632835"/>
              <a:ext cx="1123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Redis 任务队列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1904" y="3918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90029" y="3918585"/>
              <a:ext cx="13938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MongoDB 记录中心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1904" y="4204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90029" y="4204335"/>
              <a:ext cx="10622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etcd 注册中心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1904" y="44900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90029" y="4490085"/>
              <a:ext cx="10005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K8s 服务发现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1904" y="4775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0029" y="4775835"/>
              <a:ext cx="1094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dmfr 内部框架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2494102" cy="541401"/>
            <a:chOff x="457200" y="457200"/>
            <a:chExt cx="2494102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五层架构总览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143000"/>
            <a:ext cx="11277600" cy="762000"/>
            <a:chOff x="457200" y="1143000"/>
            <a:chExt cx="11277600" cy="762000"/>
          </a:xfrm>
        </p:grpSpPr>
        <p:sp>
          <p:nvSpPr>
            <p:cNvPr id="5" name="Rectangle 5"/>
            <p:cNvSpPr/>
            <p:nvPr/>
          </p:nvSpPr>
          <p:spPr>
            <a:xfrm>
              <a:off x="457200" y="114300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31540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外部请求层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65910"/>
              <a:ext cx="2389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前端 / Monet 客户端 / 内部工具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70904" y="1565910"/>
              <a:ext cx="2066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组装请求、携带鉴权 Header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38850" y="1905000"/>
            <a:ext cx="114300" cy="247650"/>
            <a:chOff x="6038850" y="1905000"/>
            <a:chExt cx="114300" cy="247650"/>
          </a:xfrm>
        </p:grpSpPr>
        <p:sp>
          <p:nvSpPr>
            <p:cNvPr id="10" name="Line 10"/>
            <p:cNvSpPr/>
            <p:nvPr/>
          </p:nvSpPr>
          <p:spPr>
            <a:xfrm>
              <a:off x="6096000" y="1905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6038850" y="2076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57200" y="2171700"/>
            <a:ext cx="11277600" cy="762000"/>
            <a:chOff x="457200" y="2171700"/>
            <a:chExt cx="11277600" cy="762000"/>
          </a:xfrm>
        </p:grpSpPr>
        <p:sp>
          <p:nvSpPr>
            <p:cNvPr id="13" name="Rectangle 13"/>
            <p:cNvSpPr/>
            <p:nvPr/>
          </p:nvSpPr>
          <p:spPr>
            <a:xfrm>
              <a:off x="457200" y="217170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234410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业务服务层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594610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api-outer / app-gateway / 2d / story-board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0904" y="25946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参数校验、鉴权、参数映射、入队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2933700"/>
            <a:ext cx="114300" cy="247650"/>
            <a:chOff x="6038850" y="2933700"/>
            <a:chExt cx="114300" cy="247650"/>
          </a:xfrm>
        </p:grpSpPr>
        <p:sp>
          <p:nvSpPr>
            <p:cNvPr id="18" name="Line 18"/>
            <p:cNvSpPr/>
            <p:nvPr/>
          </p:nvSpPr>
          <p:spPr>
            <a:xfrm>
              <a:off x="6096000" y="29337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6038850" y="31051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57200" y="3200400"/>
            <a:ext cx="11277600" cy="762000"/>
            <a:chOff x="457200" y="3200400"/>
            <a:chExt cx="11277600" cy="762000"/>
          </a:xfrm>
        </p:grpSpPr>
        <p:sp>
          <p:nvSpPr>
            <p:cNvPr id="21" name="Rectangle 21"/>
            <p:cNvSpPr/>
            <p:nvPr/>
          </p:nvSpPr>
          <p:spPr>
            <a:xfrm>
              <a:off x="457200" y="320040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666" y="3372802"/>
              <a:ext cx="878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 基础设施层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3623310"/>
              <a:ext cx="1425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worker-scheduler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904" y="3623310"/>
              <a:ext cx="3139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拉队列、分配任务、回写结果、Autoscaler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8850" y="3962400"/>
            <a:ext cx="114300" cy="247650"/>
            <a:chOff x="6038850" y="3962400"/>
            <a:chExt cx="114300" cy="247650"/>
          </a:xfrm>
        </p:grpSpPr>
        <p:sp>
          <p:nvSpPr>
            <p:cNvPr id="26" name="Line 26"/>
            <p:cNvSpPr/>
            <p:nvPr/>
          </p:nvSpPr>
          <p:spPr>
            <a:xfrm>
              <a:off x="6096000" y="39624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6038850" y="41338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457200" y="4229100"/>
            <a:ext cx="11277600" cy="762000"/>
            <a:chOff x="457200" y="4229100"/>
            <a:chExt cx="11277600" cy="762000"/>
          </a:xfrm>
        </p:grpSpPr>
        <p:sp>
          <p:nvSpPr>
            <p:cNvPr id="29" name="Rectangle 29"/>
            <p:cNvSpPr/>
            <p:nvPr/>
          </p:nvSpPr>
          <p:spPr>
            <a:xfrm>
              <a:off x="457200" y="422910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4401502"/>
              <a:ext cx="1156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Worker 执行层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904" y="4652010"/>
              <a:ext cx="5122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worker-sidecar + ComfyUI Worker / SD Worker / Training Worker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404" y="46520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执行推理、上报结果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38850" y="4991100"/>
            <a:ext cx="114300" cy="247650"/>
            <a:chOff x="6038850" y="4991100"/>
            <a:chExt cx="114300" cy="247650"/>
          </a:xfrm>
        </p:grpSpPr>
        <p:sp>
          <p:nvSpPr>
            <p:cNvPr id="34" name="Line 34"/>
            <p:cNvSpPr/>
            <p:nvPr/>
          </p:nvSpPr>
          <p:spPr>
            <a:xfrm>
              <a:off x="6096000" y="49911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038850" y="51625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457200" y="5257800"/>
            <a:ext cx="11277600" cy="762000"/>
            <a:chOff x="457200" y="52578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257800"/>
              <a:ext cx="112776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rgbClr val="94A3B8"/>
              </a:solidFill>
              <a:custDash>
                <a:ds d="600000" sp="400000"/>
              </a:custDash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5430202"/>
              <a:ext cx="10273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5 外部供应商层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904" y="5680710"/>
              <a:ext cx="3947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ComfyUI / SD-WebUI / 火山 / Kling / Runway / Sora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04404" y="5680710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实际 AI 推理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271260"/>
            <a:ext cx="2895752" cy="234696"/>
            <a:chOff x="451104" y="6271260"/>
            <a:chExt cx="289575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451104" y="6271260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核心原则：每层只做自己的事，不越界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2494102" cy="541401"/>
            <a:chOff x="457200" y="457200"/>
            <a:chExt cx="2494102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231731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三大核心组件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43000"/>
            <a:ext cx="3619500" cy="5143500"/>
            <a:chOff x="457200" y="1143000"/>
            <a:chExt cx="3619500" cy="5143500"/>
          </a:xfrm>
        </p:grpSpPr>
        <p:sp>
          <p:nvSpPr>
            <p:cNvPr id="5" name="Rectangle 5"/>
            <p:cNvSpPr/>
            <p:nvPr/>
          </p:nvSpPr>
          <p:spPr>
            <a:xfrm>
              <a:off x="457200" y="1143000"/>
              <a:ext cx="3619500" cy="5143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43000"/>
              <a:ext cx="3619500" cy="533400"/>
            </a:xfrm>
            <a:prstGeom prst="roundRect">
              <a:avLst>
                <a:gd name="adj" fmla="val 17857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638300"/>
              <a:ext cx="3619500" cy="381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96747" y="1323975"/>
              <a:ext cx="1340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app-gateway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98142" y="156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085" y="1878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四项职责：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466" y="2220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966" y="2220278"/>
              <a:ext cx="1727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权限校验 CheckAppAccess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0466" y="2506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966" y="25060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参数映射 + 组件解析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0466" y="27917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966" y="2791778"/>
              <a:ext cx="1369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Mongo 写 AppRecord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466" y="30775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3077528"/>
              <a:ext cx="1694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Redis 入队 + 返回 task_id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847" y="3657124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为什么不能绕过？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0847" y="39428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安全：唯一鉴权入口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847" y="4180999"/>
              <a:ext cx="17799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可观测：必须创建 AppRecord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847" y="44191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一致性：状态机依赖初始状态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286250" y="1143000"/>
            <a:ext cx="3619500" cy="5143500"/>
            <a:chOff x="4286250" y="1143000"/>
            <a:chExt cx="3619500" cy="5143500"/>
          </a:xfrm>
        </p:grpSpPr>
        <p:sp>
          <p:nvSpPr>
            <p:cNvPr id="25" name="Rectangle 25"/>
            <p:cNvSpPr/>
            <p:nvPr/>
          </p:nvSpPr>
          <p:spPr>
            <a:xfrm>
              <a:off x="4286250" y="1143000"/>
              <a:ext cx="3619500" cy="5143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86250" y="1143000"/>
              <a:ext cx="3619500" cy="533400"/>
            </a:xfrm>
            <a:prstGeom prst="roundRect">
              <a:avLst>
                <a:gd name="adj" fmla="val 17857"/>
              </a:avLst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286250" y="1638300"/>
              <a:ext cx="3619500" cy="38100"/>
            </a:xfrm>
            <a:prstGeom prst="rect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60764" y="1323975"/>
              <a:ext cx="1870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worker-scheduler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827192" y="156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调度核心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09135" y="18788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关键行为：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09516" y="2220278"/>
              <a:ext cx="189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Pod 并行，无 Leader 选举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9516" y="2506028"/>
              <a:ext cx="1719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Redis 拉 pending tasks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09516" y="2791778"/>
              <a:ext cx="1518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 Mongo 加载完整消息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9516" y="3077528"/>
              <a:ext cx="1339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注册到 etcd running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9516" y="3363278"/>
              <a:ext cx="9809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下发给 Worker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14850" y="376237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509897" y="3942874"/>
              <a:ext cx="11026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Worker Pull 模型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09897" y="4228624"/>
              <a:ext cx="17278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主动上报"我空闲了"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09897" y="4466749"/>
              <a:ext cx="1714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天然背压，Worker 不被打爆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15300" y="1143000"/>
            <a:ext cx="3619500" cy="5143500"/>
            <a:chOff x="8115300" y="1143000"/>
            <a:chExt cx="3619500" cy="5143500"/>
          </a:xfrm>
        </p:grpSpPr>
        <p:sp>
          <p:nvSpPr>
            <p:cNvPr id="41" name="Rectangle 41"/>
            <p:cNvSpPr/>
            <p:nvPr/>
          </p:nvSpPr>
          <p:spPr>
            <a:xfrm>
              <a:off x="8115300" y="1143000"/>
              <a:ext cx="3619500" cy="5143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15300" y="1143000"/>
              <a:ext cx="3619500" cy="533400"/>
            </a:xfrm>
            <a:prstGeom prst="roundRect">
              <a:avLst>
                <a:gd name="adj" fmla="val 17857"/>
              </a:avLst>
            </a:prstGeom>
            <a:solidFill>
              <a:schemeClr val="accent3">
                <a:alpha val="15000"/>
              </a:schemeClr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15300" y="1638300"/>
              <a:ext cx="3619500" cy="38100"/>
            </a:xfrm>
            <a:prstGeom prst="rect">
              <a:avLst/>
            </a:prstGeom>
            <a:solidFill>
              <a:schemeClr val="accent3">
                <a:alpha val="30000"/>
              </a:scheme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106429" y="1323975"/>
              <a:ext cx="163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worker-sidecar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90278" y="15616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异构适配器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8185" y="1878806"/>
              <a:ext cx="1379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 Pattern：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38566" y="22202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将调度逻辑与推理后端解耦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38566" y="2791778"/>
              <a:ext cx="973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新增 AI 能力：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38566" y="30775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scheduler 代码不需要改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38566" y="33632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只需：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38947" y="3657124"/>
              <a:ext cx="17777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1. sidecar 新增 worker 实现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38947" y="3895249"/>
              <a:ext cx="1560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2. action 层处理参数映射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343900" y="433387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338947" y="4514374"/>
              <a:ext cx="9795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支持的后端类型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8947" y="4800124"/>
              <a:ext cx="16851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本地：ComfyUI / SD-WebUI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338947" y="5038249"/>
              <a:ext cx="21980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外部：火山 / Kling / Runway / Sora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4020693" cy="541401"/>
            <a:chOff x="457200" y="457200"/>
            <a:chExt cx="4020693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38439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为什么需要三套存储？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143000"/>
            <a:ext cx="3619500" cy="4000500"/>
            <a:chOff x="457200" y="1143000"/>
            <a:chExt cx="3619500" cy="4000500"/>
          </a:xfrm>
        </p:grpSpPr>
        <p:sp>
          <p:nvSpPr>
            <p:cNvPr id="5" name="Rectangle 5"/>
            <p:cNvSpPr/>
            <p:nvPr/>
          </p:nvSpPr>
          <p:spPr>
            <a:xfrm>
              <a:off x="457200" y="1143000"/>
              <a:ext cx="3619500" cy="4000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43000"/>
              <a:ext cx="3619500" cy="476250"/>
            </a:xfrm>
            <a:prstGeom prst="roundRect">
              <a:avLst>
                <a:gd name="adj" fmla="val 2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63731" y="1269682"/>
              <a:ext cx="6064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Redis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19456" y="1727835"/>
              <a:ext cx="1894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短生命周期"待消费"队列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04787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4766" y="2267902"/>
              <a:ext cx="1928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ZSet 排序（score = 时间戳）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766" y="2553652"/>
              <a:ext cx="16832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不同优先级不同 Redis key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766" y="2839402"/>
              <a:ext cx="1487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亚秒响应 /status 轮询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4766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分布式锁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3524250"/>
              <a:ext cx="3162300" cy="381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85930" y="3666649"/>
              <a:ext cx="1362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10W+ QPS · 微秒延迟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86250" y="1143000"/>
            <a:ext cx="3619500" cy="4000500"/>
            <a:chOff x="4286250" y="1143000"/>
            <a:chExt cx="36195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4286250" y="1143000"/>
              <a:ext cx="3619500" cy="4000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86250" y="1143000"/>
              <a:ext cx="3619500" cy="476250"/>
            </a:xfrm>
            <a:prstGeom prst="roundRect">
              <a:avLst>
                <a:gd name="adj" fmla="val 2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03872" y="1269682"/>
              <a:ext cx="984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MongoDB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63696" y="1727835"/>
              <a:ext cx="206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长生命周期"任务记录中心"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14850" y="204787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23816" y="22679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任务参数、状态、结果全量存储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23816" y="2553652"/>
              <a:ext cx="20073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AppRecord：查询、审计、计费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23816" y="2839402"/>
              <a:ext cx="183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AppTaskMsg：完整任务消息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514850" y="3524250"/>
              <a:ext cx="3162300" cy="381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53442" y="3666649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持久化 · 灵活查询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15300" y="1143000"/>
            <a:ext cx="3619500" cy="4000500"/>
            <a:chOff x="8115300" y="1143000"/>
            <a:chExt cx="36195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8115300" y="1143000"/>
              <a:ext cx="3619500" cy="4000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15300" y="1143000"/>
              <a:ext cx="3619500" cy="476250"/>
            </a:xfrm>
            <a:prstGeom prst="roundRect">
              <a:avLst>
                <a:gd name="adj" fmla="val 20000"/>
              </a:avLst>
            </a:prstGeom>
            <a:solidFill>
              <a:schemeClr val="accent3">
                <a:alpha val="12000"/>
              </a:scheme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60116" y="1269682"/>
              <a:ext cx="5298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650" b="1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</a:rPr>
                <a:t>etcd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77556" y="1727835"/>
              <a:ext cx="1894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运行态"强一致注册中心"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343900" y="2047875"/>
              <a:ext cx="31623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2866" y="2267902"/>
              <a:ext cx="1711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Lease：TTL 自动过期清理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2866" y="2553652"/>
              <a:ext cx="21598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Watch：实时感知 Worker 上下线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2866" y="2839402"/>
              <a:ext cx="1544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Txn：乐观锁防并发覆盖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52866" y="3125152"/>
              <a:ext cx="799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Raft 强一致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43900" y="3524250"/>
              <a:ext cx="3162300" cy="381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82492" y="3666649"/>
              <a:ext cx="10851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强一致 · 自动清理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5429250"/>
            <a:ext cx="11277600" cy="571500"/>
            <a:chOff x="457200" y="5429250"/>
            <a:chExt cx="11277600" cy="571500"/>
          </a:xfrm>
        </p:grpSpPr>
        <p:sp>
          <p:nvSpPr>
            <p:cNvPr id="40" name="Rectangle 40"/>
            <p:cNvSpPr/>
            <p:nvPr/>
          </p:nvSpPr>
          <p:spPr>
            <a:xfrm>
              <a:off x="457200" y="5429250"/>
              <a:ext cx="112776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926237" y="5635942"/>
              <a:ext cx="63395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核心原则：不同语义用不同存储，不要强求一套搞定 — 经典分布式系统取舍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3257398" cy="541401"/>
            <a:chOff x="457200" y="457200"/>
            <a:chExt cx="3257398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3080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任务完整生命周期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95375"/>
            <a:ext cx="3619500" cy="2476500"/>
            <a:chOff x="457200" y="1095375"/>
            <a:chExt cx="3619500" cy="2476500"/>
          </a:xfrm>
        </p:grpSpPr>
        <p:sp>
          <p:nvSpPr>
            <p:cNvPr id="5" name="Rectangle 5"/>
            <p:cNvSpPr/>
            <p:nvPr/>
          </p:nvSpPr>
          <p:spPr>
            <a:xfrm>
              <a:off x="457200" y="1095375"/>
              <a:ext cx="3619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095375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21612" y="12230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提交阶段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847" y="1609249"/>
              <a:ext cx="9554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Client 发起请求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547" y="1847374"/>
              <a:ext cx="15772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api-outer（JWT 鉴权）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547" y="2085499"/>
              <a:ext cx="18898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app-gateway（权限 + 映射）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547" y="2323624"/>
              <a:ext cx="13919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Mongo 写 AppRecord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547" y="2561749"/>
              <a:ext cx="11054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Redis ZAdd 入队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547" y="2847499"/>
              <a:ext cx="1428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 返回 task_id（立即）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076700" y="2276475"/>
            <a:ext cx="247650" cy="114300"/>
            <a:chOff x="4076700" y="2276475"/>
            <a:chExt cx="247650" cy="114300"/>
          </a:xfrm>
        </p:grpSpPr>
        <p:sp>
          <p:nvSpPr>
            <p:cNvPr id="15" name="Line 15"/>
            <p:cNvSpPr/>
            <p:nvPr/>
          </p:nvSpPr>
          <p:spPr>
            <a:xfrm>
              <a:off x="4076700" y="23336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248150" y="22764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286250" y="1095375"/>
            <a:ext cx="3619500" cy="2476500"/>
            <a:chOff x="4286250" y="1095375"/>
            <a:chExt cx="3619500" cy="2476500"/>
          </a:xfrm>
        </p:grpSpPr>
        <p:sp>
          <p:nvSpPr>
            <p:cNvPr id="18" name="Rectangle 18"/>
            <p:cNvSpPr/>
            <p:nvPr/>
          </p:nvSpPr>
          <p:spPr>
            <a:xfrm>
              <a:off x="4286250" y="1095375"/>
              <a:ext cx="3619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286250" y="1095375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0662" y="12230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调度阶段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09897" y="1609249"/>
              <a:ext cx="1461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上报"我空闲了"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76597" y="1847374"/>
              <a:ext cx="18957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WeightedScheduler 选优先级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76597" y="2085499"/>
              <a:ext cx="11457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ZRange 扫描候选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76597" y="2323624"/>
              <a:ext cx="10341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ZRem 原子抢占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76597" y="2561749"/>
              <a:ext cx="15698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Mongo 加载 + etcd 注册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76597" y="2847499"/>
              <a:ext cx="1386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下发 JobReportData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05750" y="2276475"/>
            <a:ext cx="247650" cy="114300"/>
            <a:chOff x="7905750" y="2276475"/>
            <a:chExt cx="247650" cy="114300"/>
          </a:xfrm>
        </p:grpSpPr>
        <p:sp>
          <p:nvSpPr>
            <p:cNvPr id="28" name="Line 28"/>
            <p:cNvSpPr/>
            <p:nvPr/>
          </p:nvSpPr>
          <p:spPr>
            <a:xfrm>
              <a:off x="7905750" y="23336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475569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077200" y="22764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115300" y="1095375"/>
            <a:ext cx="3619500" cy="2476500"/>
            <a:chOff x="8115300" y="1095375"/>
            <a:chExt cx="3619500" cy="2476500"/>
          </a:xfrm>
        </p:grpSpPr>
        <p:sp>
          <p:nvSpPr>
            <p:cNvPr id="31" name="Rectangle 31"/>
            <p:cNvSpPr/>
            <p:nvPr/>
          </p:nvSpPr>
          <p:spPr>
            <a:xfrm>
              <a:off x="8115300" y="1095375"/>
              <a:ext cx="3619500" cy="2476500"/>
            </a:xfrm>
            <a:prstGeom prst="roundRect">
              <a:avLst>
                <a:gd name="adj" fmla="val 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15300" y="1095375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chemeClr val="accent3">
                <a:alpha val="12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94901" y="12230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执行与回写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947" y="1609249"/>
              <a:ext cx="1048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执行推理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05647" y="1847374"/>
              <a:ext cx="1560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上报 progress / result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05647" y="2085499"/>
              <a:ext cx="1932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AfterCall + MapCallResponse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05647" y="2323624"/>
              <a:ext cx="1241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Mongo 写 Success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05647" y="2561749"/>
              <a:ext cx="10639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↓ Kafka 通知下游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05647" y="2847499"/>
              <a:ext cx="15336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etcd 删除 running 注册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3905250"/>
            <a:ext cx="11277600" cy="1238250"/>
            <a:chOff x="457200" y="3905250"/>
            <a:chExt cx="11277600" cy="1238250"/>
          </a:xfrm>
        </p:grpSpPr>
        <p:sp>
          <p:nvSpPr>
            <p:cNvPr id="41" name="Rectangle 41"/>
            <p:cNvSpPr/>
            <p:nvPr/>
          </p:nvSpPr>
          <p:spPr>
            <a:xfrm>
              <a:off x="457200" y="3905250"/>
              <a:ext cx="11277600" cy="12382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285" y="4117181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设计要点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666" y="4458652"/>
              <a:ext cx="47459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提交和执行完全异步 — 提交后立即返回 task_id，客户端通过 /status 轮询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6666" y="4725352"/>
              <a:ext cx="4801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Pull 模型 — Worker 主动上报空闲，天然背压，Worker 不会被打爆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57200" y="5334000"/>
            <a:ext cx="11277600" cy="571500"/>
            <a:chOff x="457200" y="5334000"/>
            <a:chExt cx="11277600" cy="571500"/>
          </a:xfrm>
        </p:grpSpPr>
        <p:sp>
          <p:nvSpPr>
            <p:cNvPr id="46" name="Rectangle 46"/>
            <p:cNvSpPr/>
            <p:nvPr/>
          </p:nvSpPr>
          <p:spPr>
            <a:xfrm>
              <a:off x="457200" y="5334000"/>
              <a:ext cx="11277600" cy="57150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rgbClr val="334155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6666" y="5563552"/>
              <a:ext cx="6707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Microsoft YaHei"/>
                  <a:cs typeface="Fira Code"/>
                </a:rPr>
                <a:t>Client → GET /apps/{app}/status?task_id=xxx → app-gateway → Mongo 读取 → 返回 status + output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4692357" cy="541401"/>
            <a:chOff x="457200" y="457200"/>
            <a:chExt cx="4692357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451557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任务状态机与 Action 编排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1104" y="1108710"/>
            <a:ext cx="5530596" cy="2415540"/>
            <a:chOff x="451104" y="1108710"/>
            <a:chExt cx="5530596" cy="2415540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1108710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 种任务状态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1428750"/>
              <a:ext cx="5524500" cy="209550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809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 w="14288">
              <a:solidFill>
                <a:schemeClr val="accent1">
                  <a:alpha val="20000"/>
                </a:scheme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4937" y="19250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queued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809750" y="19812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266950" y="193357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62200" y="18097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20000"/>
              </a:schemeClr>
            </a:solidFill>
            <a:ln w="14288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78684" y="192500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running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314700" y="1743075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0" y="238125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886200" y="1571625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22C55E">
                <a:alpha val="20000"/>
              </a:srgbClr>
            </a:solidFill>
            <a:ln w="14288">
              <a:solidFill>
                <a:srgbClr val="22C55E">
                  <a:alpha val="20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85015" y="168687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22C55E"/>
                  </a:solidFill>
                  <a:latin typeface="Fira Code"/>
                  <a:ea typeface="Fira Code"/>
                  <a:cs typeface="Fira Code"/>
                </a:rPr>
                <a:t>success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314700" y="2057400"/>
              <a:ext cx="476250" cy="238125"/>
            </a:xfrm>
            <a:custGeom>
              <a:avLst/>
              <a:gdLst/>
              <a:ahLst/>
              <a:cxnLst/>
              <a:rect l="l" t="t" r="r" b="b"/>
              <a:pathLst>
                <a:path w="476250" h="238125">
                  <a:moveTo>
                    <a:pt x="0" y="0"/>
                  </a:moveTo>
                  <a:lnTo>
                    <a:pt x="476250" y="238125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86200" y="2124075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20000"/>
              </a:srgbClr>
            </a:solidFill>
            <a:ln w="14288">
              <a:solidFill>
                <a:srgbClr val="EF4444">
                  <a:alpha val="2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59225" y="2239328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EF4444"/>
                  </a:solidFill>
                  <a:latin typeface="Fira Code"/>
                  <a:ea typeface="Fira Code"/>
                  <a:cs typeface="Fira Code"/>
                </a:rPr>
                <a:t>failed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314700" y="2152650"/>
              <a:ext cx="476250" cy="666750"/>
            </a:xfrm>
            <a:custGeom>
              <a:avLst/>
              <a:gdLst/>
              <a:ahLst/>
              <a:cxnLst/>
              <a:rect l="l" t="t" r="r" b="b"/>
              <a:pathLst>
                <a:path w="476250" h="666750">
                  <a:moveTo>
                    <a:pt x="0" y="0"/>
                  </a:moveTo>
                  <a:lnTo>
                    <a:pt x="476250" y="66675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86200" y="26670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94A3B8">
                <a:alpha val="20000"/>
              </a:srgbClr>
            </a:solidFill>
            <a:ln w="14288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85015" y="278225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94A3B8"/>
                  </a:solidFill>
                  <a:latin typeface="Fira Code"/>
                  <a:ea typeface="Fira Code"/>
                  <a:cs typeface="Fira Code"/>
                </a:rPr>
                <a:t>stopped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0847" y="3228499"/>
              <a:ext cx="36104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每次状态流转后 SetCache() 更新 Redis，/status 亚秒响应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0404" y="1108710"/>
            <a:ext cx="5454396" cy="2415540"/>
            <a:chOff x="6280404" y="1108710"/>
            <a:chExt cx="5454396" cy="2415540"/>
          </a:xfrm>
        </p:grpSpPr>
        <p:sp>
          <p:nvSpPr>
            <p:cNvPr id="24" name="TextBox 24"/>
            <p:cNvSpPr txBox="1"/>
            <p:nvPr/>
          </p:nvSpPr>
          <p:spPr>
            <a:xfrm>
              <a:off x="6280404" y="1108710"/>
              <a:ext cx="1270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Action 编排模式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286500" y="1428750"/>
              <a:ext cx="5448300" cy="209550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6916" y="1648778"/>
              <a:ext cx="20596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Template Method + Strategy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7297" y="2037874"/>
              <a:ext cx="4781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Base 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10297" y="2037874"/>
              <a:ext cx="2132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公共实现 Add/Run/Success/Failed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7297" y="2323624"/>
              <a:ext cx="9046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commonAction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10297" y="2323624"/>
              <a:ext cx="170567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ZSet 队列，大多数直接复用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7297" y="2609374"/>
              <a:ext cx="7157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专用 action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710297" y="26093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仅差异大时才单独写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72250" y="2952750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7297" y="3180874"/>
              <a:ext cx="23704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Go 类型断言实现接口隔离（能力检测）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104" y="3870960"/>
            <a:ext cx="11283696" cy="853440"/>
            <a:chOff x="451104" y="3870960"/>
            <a:chExt cx="11283696" cy="853440"/>
          </a:xfrm>
        </p:grpSpPr>
        <p:sp>
          <p:nvSpPr>
            <p:cNvPr id="36" name="TextBox 36"/>
            <p:cNvSpPr txBox="1"/>
            <p:nvPr/>
          </p:nvSpPr>
          <p:spPr>
            <a:xfrm>
              <a:off x="451104" y="3870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编排链路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57200" y="4191000"/>
              <a:ext cx="11277600" cy="5334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4411028"/>
              <a:ext cx="1030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BeforeProduce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47316" y="4411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337816" y="4411028"/>
              <a:ext cx="559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Produce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33166" y="4411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423666" y="4411028"/>
              <a:ext cx="5877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Consume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76166" y="4411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66666" y="4411028"/>
              <a:ext cx="725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BeforeCall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90616" y="4411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81116" y="4411028"/>
              <a:ext cx="952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GenerateTask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14616" y="4411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475569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05116" y="4411028"/>
              <a:ext cx="6475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AfterCall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451104" y="5061585"/>
            <a:ext cx="11283696" cy="1224915"/>
            <a:chOff x="451104" y="5061585"/>
            <a:chExt cx="11283696" cy="1224915"/>
          </a:xfrm>
        </p:grpSpPr>
        <p:sp>
          <p:nvSpPr>
            <p:cNvPr id="50" name="TextBox 50"/>
            <p:cNvSpPr txBox="1"/>
            <p:nvPr/>
          </p:nvSpPr>
          <p:spPr>
            <a:xfrm>
              <a:off x="451104" y="5061585"/>
              <a:ext cx="2000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可选接口（Go 类型断言）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" y="5334000"/>
              <a:ext cx="112776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7047" y="5514499"/>
              <a:ext cx="9880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RequestMapper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7238" y="576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参数映射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81047" y="5514499"/>
              <a:ext cx="842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MsgProducer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281238" y="5760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入队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709797" y="5514499"/>
              <a:ext cx="8695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MsgConsumer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09988" y="5760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出队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38547" y="5514499"/>
              <a:ext cx="6670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Generator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138738" y="5760720"/>
              <a:ext cx="7666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生成 JobData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67297" y="5514499"/>
              <a:ext cx="12883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CallResponseMapper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67488" y="576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结果映射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472297" y="5514499"/>
              <a:ext cx="739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Progressor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72488" y="576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进度读写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01047" y="5514499"/>
              <a:ext cx="3827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Caller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01238" y="576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直接调用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4987054" cy="541401"/>
            <a:chOff x="457200" y="457200"/>
            <a:chExt cx="4987054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481027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Redis ZSet 队列与乐观抢占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1104" y="1108710"/>
            <a:ext cx="5530596" cy="1891665"/>
            <a:chOff x="451104" y="1108710"/>
            <a:chExt cx="5530596" cy="1891665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1108710"/>
              <a:ext cx="1145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ZSet 设计亮点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1381125"/>
              <a:ext cx="5524500" cy="1619250"/>
            </a:xfrm>
            <a:prstGeom prst="roundRect">
              <a:avLst>
                <a:gd name="adj" fmla="val 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6666" y="1601152"/>
              <a:ext cx="2546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毫秒时间戳 → 同优先级内 FIFO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886902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member =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13916" y="1886902"/>
              <a:ext cx="918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user::taskID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33166" y="1886902"/>
              <a:ext cx="21906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完整数据在 Mongo（关注点分离）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2172652"/>
              <a:ext cx="16894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ZRem 返回 ≥ 1 = 抢到了（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85516" y="2172652"/>
              <a:ext cx="1299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原子操作，无需 Lua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0966" y="21726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2506028"/>
              <a:ext cx="3350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 scheduler 同时 ZRange 没关系 — 谁先 ZRem 谁赢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0404" y="1108710"/>
            <a:ext cx="5454396" cy="1891665"/>
            <a:chOff x="6280404" y="1108710"/>
            <a:chExt cx="5454396" cy="1891665"/>
          </a:xfrm>
        </p:grpSpPr>
        <p:sp>
          <p:nvSpPr>
            <p:cNvPr id="16" name="TextBox 16"/>
            <p:cNvSpPr txBox="1"/>
            <p:nvPr/>
          </p:nvSpPr>
          <p:spPr>
            <a:xfrm>
              <a:off x="6280404" y="1108710"/>
              <a:ext cx="1265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多队列 Key 结构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286500" y="1381125"/>
              <a:ext cx="5448300" cy="1619250"/>
            </a:xfrm>
            <a:prstGeom prst="roundRect">
              <a:avLst>
                <a:gd name="adj" fmla="val 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67488" y="1598295"/>
              <a:ext cx="1245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apps_pending_task::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7488" y="1807845"/>
              <a:ext cx="328050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0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{priority}::{source}::{taskMode}::{cluster}::{env}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72250" y="2047875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67297" y="2228374"/>
              <a:ext cx="27924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隔离：不同 cluster Worker 只消费自己的队列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7297" y="2466499"/>
              <a:ext cx="26657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限流：不同 source/taskMode 独立消费规则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7297" y="2704624"/>
              <a:ext cx="21471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性能：小队列 ZRange 扫描范围更小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3347085"/>
            <a:ext cx="5530596" cy="2939415"/>
            <a:chOff x="451104" y="3347085"/>
            <a:chExt cx="5530596" cy="2939415"/>
          </a:xfrm>
        </p:grpSpPr>
        <p:sp>
          <p:nvSpPr>
            <p:cNvPr id="25" name="TextBox 25"/>
            <p:cNvSpPr txBox="1"/>
            <p:nvPr/>
          </p:nvSpPr>
          <p:spPr>
            <a:xfrm>
              <a:off x="451104" y="334708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两轮扫描策略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7200" y="3619500"/>
              <a:ext cx="55245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6285" y="3831431"/>
              <a:ext cx="1143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第一轮 — 公平性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666" y="4125278"/>
              <a:ext cx="1702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ZRange(0, 255) 批量扫描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6666" y="4363402"/>
              <a:ext cx="3084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逐个检查 GetUser() — 该用户是否有任务在跑？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6666" y="4601528"/>
              <a:ext cx="1982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有冲突 → 跳过，加入 queueJob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666" y="4839652"/>
              <a:ext cx="2364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无冲突 → grabJob() 尝试 ZRem 抢占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5143500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6285" y="5307806"/>
              <a:ext cx="1143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第二轮 — 吞吐量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666" y="5601652"/>
              <a:ext cx="1982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第一轮没抢到 → 遍历 queueJob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666" y="5839778"/>
              <a:ext cx="2165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消费冲突任务，不让 Worker 空闲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3619500"/>
            <a:ext cx="5448300" cy="2667000"/>
            <a:chOff x="6286500" y="3619500"/>
            <a:chExt cx="5448300" cy="2667000"/>
          </a:xfrm>
        </p:grpSpPr>
        <p:sp>
          <p:nvSpPr>
            <p:cNvPr id="37" name="Rectangle 37"/>
            <p:cNvSpPr/>
            <p:nvPr/>
          </p:nvSpPr>
          <p:spPr>
            <a:xfrm>
              <a:off x="6286500" y="3619500"/>
              <a:ext cx="5448300" cy="2667000"/>
            </a:xfrm>
            <a:prstGeom prst="roundRect">
              <a:avLst>
                <a:gd name="adj" fmla="val 2857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69120" y="3950018"/>
              <a:ext cx="1483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公平性 vs 吞吐量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96834" y="4442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经典的分布式调度权衡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62750" y="4857750"/>
              <a:ext cx="43815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874508" y="51254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第一轮优先给没有运行中任务的用户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63477" y="5411152"/>
              <a:ext cx="1694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防止高频用户独占 Worker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99390" y="5792152"/>
              <a:ext cx="20225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第二轮兜底保证 Worker 不空闲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4020693" cy="541401"/>
            <a:chOff x="457200" y="457200"/>
            <a:chExt cx="4020693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384390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优先级调度与并发控制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1104" y="1108710"/>
            <a:ext cx="5530596" cy="2653665"/>
            <a:chOff x="451104" y="1108710"/>
            <a:chExt cx="5530596" cy="2653665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1108710"/>
              <a:ext cx="2291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WeightedScheduler 加权轮转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1381125"/>
              <a:ext cx="55245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6666" y="16011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配置示例：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857375"/>
              <a:ext cx="1524000" cy="285750"/>
            </a:xfrm>
            <a:prstGeom prst="roundRect">
              <a:avLst>
                <a:gd name="adj" fmla="val 13333"/>
              </a:avLst>
            </a:prstGeom>
            <a:solidFill>
              <a:schemeClr val="accent1">
                <a:alpha val="15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2315" y="1942624"/>
              <a:ext cx="6233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pri:2 w:5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476500" y="1857375"/>
              <a:ext cx="1524000" cy="285750"/>
            </a:xfrm>
            <a:prstGeom prst="roundRect">
              <a:avLst>
                <a:gd name="adj" fmla="val 13333"/>
              </a:avLst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926815" y="1942624"/>
              <a:ext cx="6233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pri:1 w:3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191000" y="1857375"/>
              <a:ext cx="1524000" cy="285750"/>
            </a:xfrm>
            <a:prstGeom prst="roundRect">
              <a:avLst>
                <a:gd name="adj" fmla="val 13333"/>
              </a:avLst>
            </a:prstGeom>
            <a:solidFill>
              <a:srgbClr val="94A3B8">
                <a:alpha val="15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41315" y="1942624"/>
              <a:ext cx="6233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Fira Code"/>
                  <a:ea typeface="Fira Code"/>
                  <a:cs typeface="Fira Code"/>
                </a:rPr>
                <a:t>pri:0 w:2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2363152"/>
              <a:ext cx="27599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10 次消费中：高 5 次 / 中 3 次 / 低 2 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2667000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6666" y="283940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防饥饿机制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3125152"/>
              <a:ext cx="2335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配额耗尽 → 重置 → 每轮至少消费 1 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3363278"/>
              <a:ext cx="3424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高优先级队列为空 → 低优先级立即有机会（降序兜底）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0404" y="1108710"/>
            <a:ext cx="5454396" cy="2653665"/>
            <a:chOff x="6280404" y="1108710"/>
            <a:chExt cx="5454396" cy="2653665"/>
          </a:xfrm>
        </p:grpSpPr>
        <p:sp>
          <p:nvSpPr>
            <p:cNvPr id="20" name="TextBox 20"/>
            <p:cNvSpPr txBox="1"/>
            <p:nvPr/>
          </p:nvSpPr>
          <p:spPr>
            <a:xfrm>
              <a:off x="6280404" y="1108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用户并发控制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1381125"/>
              <a:ext cx="5448300" cy="2381250"/>
            </a:xfrm>
            <a:prstGeom prst="roundRect">
              <a:avLst>
                <a:gd name="adj" fmla="val 3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6916" y="1582102"/>
              <a:ext cx="1369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ConcurrentManager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6916" y="1886902"/>
              <a:ext cx="313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两个维度：taskMap（任务）+ userMap（用户）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72250" y="2143125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6916" y="2315528"/>
              <a:ext cx="943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CAS 原子操作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916" y="2601278"/>
              <a:ext cx="219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CompareAndSwap — 乐观、无阻塞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6916" y="2839402"/>
              <a:ext cx="19476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低竞争场景比 Mutex 性能更好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572250" y="3095625"/>
              <a:ext cx="4953000" cy="19050"/>
            </a:xfrm>
            <a:prstGeom prst="rect">
              <a:avLst/>
            </a:prstGeom>
            <a:solidFill>
              <a:srgbClr val="33415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6916" y="3268028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etcd Watch 驱动同步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916" y="3506152"/>
              <a:ext cx="2242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新任务 → Watch Put → 所有 Pod +1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7200" y="4095750"/>
            <a:ext cx="11277600" cy="2095500"/>
            <a:chOff x="457200" y="4095750"/>
            <a:chExt cx="11277600" cy="2095500"/>
          </a:xfrm>
        </p:grpSpPr>
        <p:sp>
          <p:nvSpPr>
            <p:cNvPr id="32" name="Rectangle 32"/>
            <p:cNvSpPr/>
            <p:nvPr/>
          </p:nvSpPr>
          <p:spPr>
            <a:xfrm>
              <a:off x="457200" y="4095750"/>
              <a:ext cx="11277600" cy="2095500"/>
            </a:xfrm>
            <a:prstGeom prst="roundRect">
              <a:avLst>
                <a:gd name="adj" fmla="val 363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6285" y="4307681"/>
              <a:ext cx="1019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1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 Pod 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43000" y="4667250"/>
              <a:ext cx="1524000" cy="47625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19644" y="4839652"/>
              <a:ext cx="370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3238500" y="4667250"/>
              <a:ext cx="1524000" cy="47625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815144" y="4839652"/>
              <a:ext cx="370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0" y="4667250"/>
              <a:ext cx="1524000" cy="47625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0644" y="4839652"/>
              <a:ext cx="370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Pod 3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096250" y="4667250"/>
              <a:ext cx="2857500" cy="47625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76519" y="4839652"/>
              <a:ext cx="12969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etcd /task/{env}/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2667000" y="4905375"/>
              <a:ext cx="5429250" cy="238125"/>
            </a:xfrm>
            <a:custGeom>
              <a:avLst/>
              <a:gdLst/>
              <a:ahLst/>
              <a:cxnLst/>
              <a:rect l="l" t="t" r="r" b="b"/>
              <a:pathLst>
                <a:path w="5429250" h="238125">
                  <a:moveTo>
                    <a:pt x="0" y="238125"/>
                  </a:moveTo>
                  <a:lnTo>
                    <a:pt x="5429250" y="0"/>
                  </a:lnTo>
                </a:path>
              </a:pathLst>
            </a:custGeom>
            <a:noFill/>
            <a:ln w="9525">
              <a:solidFill>
                <a:srgbClr val="475569"/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4762500" y="4905375"/>
              <a:ext cx="3333750" cy="238125"/>
            </a:xfrm>
            <a:custGeom>
              <a:avLst/>
              <a:gdLst/>
              <a:ahLst/>
              <a:cxnLst/>
              <a:rect l="l" t="t" r="r" b="b"/>
              <a:pathLst>
                <a:path w="3333750" h="238125">
                  <a:moveTo>
                    <a:pt x="0" y="238125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475569"/>
              </a:solidFill>
              <a:prstDash val="dash"/>
            </a:ln>
          </p:spPr>
        </p:sp>
        <p:sp>
          <p:nvSpPr>
            <p:cNvPr id="44" name="Line 44"/>
            <p:cNvSpPr/>
            <p:nvPr/>
          </p:nvSpPr>
          <p:spPr>
            <a:xfrm>
              <a:off x="6858000" y="4905375"/>
              <a:ext cx="1238250" cy="238125"/>
            </a:xfrm>
            <a:custGeom>
              <a:avLst/>
              <a:gdLst/>
              <a:ahLst/>
              <a:cxnLst/>
              <a:rect l="l" t="t" r="r" b="b"/>
              <a:pathLst>
                <a:path w="1238250" h="238125">
                  <a:moveTo>
                    <a:pt x="0" y="238125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475569"/>
              </a:solidFill>
              <a:prstDash val="dash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100600" y="5323999"/>
              <a:ext cx="3990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所有 Pod Watch 同一前缀 → 任意 Pod 写 etcd → 所有 Pod 收到事件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37735" y="5609749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最终一致：毫秒级延迟，对实际场景可接受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4974812" cy="541401"/>
            <a:chOff x="457200" y="457200"/>
            <a:chExt cx="4974812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47980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etcd 注册、心跳与故障检测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104" y="1108710"/>
            <a:ext cx="11283696" cy="1224915"/>
            <a:chOff x="451104" y="1108710"/>
            <a:chExt cx="11283696" cy="1224915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1108710"/>
              <a:ext cx="1453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etcd 四大核心能力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1381125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23658" y="1574006"/>
              <a:ext cx="13340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Put / Get / Delete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55928" y="1847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基本读写删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314700" y="1381125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417575" y="1574006"/>
              <a:ext cx="461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Watch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49573" y="184737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监听变化，实时推送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172200" y="1381125"/>
              <a:ext cx="26670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90323" y="1574006"/>
              <a:ext cx="43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</a:rPr>
                <a:t>Lease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46651" y="1847374"/>
              <a:ext cx="11180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TTL 自动过期清理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029700" y="1381125"/>
              <a:ext cx="2705100" cy="952500"/>
            </a:xfrm>
            <a:prstGeom prst="roundRect">
              <a:avLst>
                <a:gd name="adj" fmla="val 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49799" y="1574006"/>
              <a:ext cx="2649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dirty="0">
                  <a:solidFill>
                    <a:srgbClr val="22C55E"/>
                  </a:solidFill>
                  <a:latin typeface="Fira Code"/>
                  <a:ea typeface="Fira Code"/>
                  <a:cs typeface="Fira Code"/>
                </a:rPr>
                <a:t>Txn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047478" y="1847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乐观锁事务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51104" y="2632710"/>
            <a:ext cx="5530596" cy="1034415"/>
            <a:chOff x="451104" y="2632710"/>
            <a:chExt cx="5530596" cy="1034415"/>
          </a:xfrm>
        </p:grpSpPr>
        <p:sp>
          <p:nvSpPr>
            <p:cNvPr id="19" name="TextBox 19"/>
            <p:cNvSpPr txBox="1"/>
            <p:nvPr/>
          </p:nvSpPr>
          <p:spPr>
            <a:xfrm>
              <a:off x="451104" y="2632710"/>
              <a:ext cx="6948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Key 格式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7200" y="2905125"/>
              <a:ext cx="55245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666" y="3077528"/>
              <a:ext cx="1861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</a:rPr>
                <a:t>/worker/{env}/{podName}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166" y="3077528"/>
              <a:ext cx="838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注册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666" y="3363278"/>
              <a:ext cx="1543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/task/{env}/{taskID}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4166" y="3363278"/>
              <a:ext cx="942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Task 运行注册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0404" y="2632710"/>
            <a:ext cx="5454396" cy="1034415"/>
            <a:chOff x="6280404" y="2632710"/>
            <a:chExt cx="5454396" cy="1034415"/>
          </a:xfrm>
        </p:grpSpPr>
        <p:sp>
          <p:nvSpPr>
            <p:cNvPr id="26" name="TextBox 26"/>
            <p:cNvSpPr txBox="1"/>
            <p:nvPr/>
          </p:nvSpPr>
          <p:spPr>
            <a:xfrm>
              <a:off x="6280404" y="26327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心跳机制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86500" y="2905125"/>
              <a:ext cx="5448300" cy="7620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6916" y="3077528"/>
              <a:ext cx="3158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Sidecar 每 30s 心跳 → Scheduler UpdateWorker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3363278"/>
              <a:ext cx="2182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Txn 乐观锁写回 + 绑定最新 Lease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51104" y="4013835"/>
            <a:ext cx="11283696" cy="1415415"/>
            <a:chOff x="451104" y="4013835"/>
            <a:chExt cx="11283696" cy="1415415"/>
          </a:xfrm>
        </p:grpSpPr>
        <p:sp>
          <p:nvSpPr>
            <p:cNvPr id="31" name="TextBox 31"/>
            <p:cNvSpPr txBox="1"/>
            <p:nvPr/>
          </p:nvSpPr>
          <p:spPr>
            <a:xfrm>
              <a:off x="451104" y="40138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故障检测链路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" y="4286250"/>
              <a:ext cx="112776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57250" y="466725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rgbClr val="EF4444">
                <a:alpha val="15000"/>
              </a:srgbClr>
            </a:solidFill>
            <a:ln w="9525">
              <a:solidFill>
                <a:srgbClr val="EF4444">
                  <a:alpha val="1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32848" y="4800124"/>
              <a:ext cx="7823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Worker 崩溃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2190750" y="4857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2647950" y="48101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743200" y="466725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chemeClr val="lt1"/>
            </a:solidFill>
            <a:ln w="9525">
              <a:solidFill>
                <a:srgbClr val="47556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41142" y="4800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心跳停止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076700" y="4857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4533900" y="48101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629150" y="4667250"/>
              <a:ext cx="1333500" cy="381000"/>
            </a:xfrm>
            <a:prstGeom prst="roundRect">
              <a:avLst>
                <a:gd name="adj" fmla="val 15000"/>
              </a:avLst>
            </a:prstGeom>
            <a:solidFill>
              <a:schemeClr val="accent3">
                <a:alpha val="15000"/>
              </a:schemeClr>
            </a:solidFill>
            <a:ln w="9525">
              <a:solidFill>
                <a:schemeClr val="accent3">
                  <a:alpha val="15000"/>
                </a:scheme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54059" y="4800124"/>
              <a:ext cx="6836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Lease 过期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962650" y="4857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6419850" y="48101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515100" y="4667250"/>
              <a:ext cx="1619250" cy="381000"/>
            </a:xfrm>
            <a:prstGeom prst="roundRect">
              <a:avLst>
                <a:gd name="adj" fmla="val 15000"/>
              </a:avLst>
            </a:prstGeom>
            <a:solidFill>
              <a:schemeClr val="accent2">
                <a:alpha val="15000"/>
              </a:schemeClr>
            </a:solidFill>
            <a:ln w="9525">
              <a:solidFill>
                <a:schemeClr val="accent2">
                  <a:alpha val="15000"/>
                </a:schemeClr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46645" y="4800124"/>
              <a:ext cx="11561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Watch Delete 事件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134350" y="4857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8591550" y="4810125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86800" y="4667250"/>
              <a:ext cx="2667000" cy="381000"/>
            </a:xfrm>
            <a:prstGeom prst="roundRect">
              <a:avLst>
                <a:gd name="adj" fmla="val 15000"/>
              </a:avLst>
            </a:prstGeom>
            <a:solidFill>
              <a:srgbClr val="22C55E">
                <a:alpha val="15000"/>
              </a:srgbClr>
            </a:solidFill>
            <a:ln w="9525">
              <a:solidFill>
                <a:srgbClr val="22C55E">
                  <a:alpha val="15000"/>
                </a:srgbClr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279851" y="4800124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8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清理缓存 + 并发计数恢复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57200" y="5715000"/>
            <a:ext cx="11277600" cy="666750"/>
            <a:chOff x="457200" y="5715000"/>
            <a:chExt cx="11277600" cy="666750"/>
          </a:xfrm>
        </p:grpSpPr>
        <p:sp>
          <p:nvSpPr>
            <p:cNvPr id="52" name="Rectangle 52"/>
            <p:cNvSpPr/>
            <p:nvPr/>
          </p:nvSpPr>
          <p:spPr>
            <a:xfrm>
              <a:off x="457200" y="5715000"/>
              <a:ext cx="11277600" cy="666750"/>
            </a:xfrm>
            <a:prstGeom prst="roundRect">
              <a:avLst>
                <a:gd name="adj" fmla="val 1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6666" y="5887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设计选择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99666" y="5887402"/>
              <a:ext cx="32056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Grant（每 300s 重新创建 Lease）而非 KeepAlive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99666" y="6125528"/>
              <a:ext cx="3157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TTL = 7200s，远大于 Grant 间隔，防止误删 key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5719610" cy="541401"/>
            <a:chOff x="457200" y="457200"/>
            <a:chExt cx="5719610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55428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Worker 生命周期与 Autoscaler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1108710"/>
            <a:ext cx="5530596" cy="2177415"/>
            <a:chOff x="451104" y="1108710"/>
            <a:chExt cx="5530596" cy="2177415"/>
          </a:xfrm>
        </p:grpSpPr>
        <p:sp>
          <p:nvSpPr>
            <p:cNvPr id="5" name="TextBox 5"/>
            <p:cNvSpPr txBox="1"/>
            <p:nvPr/>
          </p:nvSpPr>
          <p:spPr>
            <a:xfrm>
              <a:off x="451104" y="1108710"/>
              <a:ext cx="11764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Worker 状态机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457200" y="1381125"/>
              <a:ext cx="55245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57250" y="1762125"/>
              <a:ext cx="857250" cy="304800"/>
            </a:xfrm>
            <a:prstGeom prst="roundRect">
              <a:avLst>
                <a:gd name="adj" fmla="val 50000"/>
              </a:avLst>
            </a:prstGeom>
            <a:solidFill>
              <a:srgbClr val="94A3B8">
                <a:alpha val="20000"/>
              </a:srgbClr>
            </a:solidFill>
            <a:ln w="9525">
              <a:solidFill>
                <a:srgbClr val="94A3B8">
                  <a:alpha val="20000"/>
                </a:srgbClr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3028" y="18649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94A3B8"/>
                  </a:solidFill>
                  <a:latin typeface="Fira Code"/>
                  <a:ea typeface="Fira Code"/>
                  <a:cs typeface="Fira Code"/>
                </a:rPr>
                <a:t>pending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9145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076450" y="186690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71700" y="1762125"/>
              <a:ext cx="857250" cy="304800"/>
            </a:xfrm>
            <a:prstGeom prst="roundRect">
              <a:avLst>
                <a:gd name="adj" fmla="val 50000"/>
              </a:avLst>
            </a:prstGeom>
            <a:solidFill>
              <a:srgbClr val="22C55E">
                <a:alpha val="20000"/>
              </a:srgbClr>
            </a:solidFill>
            <a:ln w="9525">
              <a:solidFill>
                <a:srgbClr val="22C55E">
                  <a:alpha val="20000"/>
                </a:srgb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77478" y="1864995"/>
              <a:ext cx="4456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22C55E"/>
                  </a:solidFill>
                  <a:latin typeface="Fira Code"/>
                  <a:ea typeface="Fira Code"/>
                  <a:cs typeface="Fira Code"/>
                </a:rPr>
                <a:t>running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028950" y="1619250"/>
              <a:ext cx="495300" cy="152400"/>
            </a:xfrm>
            <a:custGeom>
              <a:avLst/>
              <a:gdLst/>
              <a:ahLst/>
              <a:cxnLst/>
              <a:rect l="l" t="t" r="r" b="b"/>
              <a:pathLst>
                <a:path w="495300" h="152400">
                  <a:moveTo>
                    <a:pt x="0" y="152400"/>
                  </a:moveTo>
                  <a:lnTo>
                    <a:pt x="49530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543300" y="1476375"/>
              <a:ext cx="1047750" cy="3048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20000"/>
              </a:schemeClr>
            </a:solidFill>
            <a:ln w="9525">
              <a:solidFill>
                <a:schemeClr val="accent3">
                  <a:alpha val="20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44373" y="1579245"/>
              <a:ext cx="6456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chemeClr val="accent3"/>
                  </a:solidFill>
                  <a:latin typeface="Fira Code"/>
                  <a:ea typeface="Fira Code"/>
                  <a:cs typeface="Fira Code"/>
                </a:rPr>
                <a:t>recovering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3028950" y="2066925"/>
              <a:ext cx="495300" cy="123825"/>
            </a:xfrm>
            <a:custGeom>
              <a:avLst/>
              <a:gdLst/>
              <a:ahLst/>
              <a:cxnLst/>
              <a:rect l="l" t="t" r="r" b="b"/>
              <a:pathLst>
                <a:path w="495300" h="123825">
                  <a:moveTo>
                    <a:pt x="0" y="0"/>
                  </a:moveTo>
                  <a:lnTo>
                    <a:pt x="495300" y="123825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543300" y="2047875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20000"/>
              </a:schemeClr>
            </a:solidFill>
            <a:ln w="9525">
              <a:solidFill>
                <a:schemeClr val="accent2">
                  <a:alpha val="200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61708" y="2150745"/>
              <a:ext cx="706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chemeClr val="accent2"/>
                  </a:solidFill>
                  <a:latin typeface="Fira Code"/>
                  <a:ea typeface="Fira Code"/>
                  <a:cs typeface="Fira Code"/>
                </a:rPr>
                <a:t>terminating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686300" y="22002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4288">
              <a:solidFill>
                <a:srgbClr val="475569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933950" y="2152650"/>
              <a:ext cx="76200" cy="95250"/>
            </a:xfrm>
            <a:custGeom>
              <a:avLst/>
              <a:gdLst/>
              <a:ahLst/>
              <a:cxnLst/>
              <a:rect l="l" t="t" r="r" b="b"/>
              <a:pathLst>
                <a:path w="76200" h="95250">
                  <a:moveTo>
                    <a:pt x="0" y="0"/>
                  </a:moveTo>
                  <a:lnTo>
                    <a:pt x="76200" y="47625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29200" y="2047875"/>
              <a:ext cx="952500" cy="304800"/>
            </a:xfrm>
            <a:prstGeom prst="roundRect">
              <a:avLst>
                <a:gd name="adj" fmla="val 50000"/>
              </a:avLst>
            </a:prstGeom>
            <a:solidFill>
              <a:srgbClr val="EF4444">
                <a:alpha val="20000"/>
              </a:srgbClr>
            </a:solidFill>
            <a:ln w="9525">
              <a:solidFill>
                <a:srgbClr val="EF4444">
                  <a:alpha val="20000"/>
                </a:srgbClr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0532" y="2150745"/>
              <a:ext cx="6698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900" dirty="0">
                  <a:solidFill>
                    <a:srgbClr val="EF4444"/>
                  </a:solidFill>
                  <a:latin typeface="Fira Code"/>
                  <a:ea typeface="Fira Code"/>
                  <a:cs typeface="Fira Code"/>
                </a:rPr>
                <a:t>terminated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7047" y="2656999"/>
              <a:ext cx="28661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terminated / terminating 状态不参与任务分配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0404" y="1108710"/>
            <a:ext cx="5454396" cy="2177415"/>
            <a:chOff x="6280404" y="1108710"/>
            <a:chExt cx="5454396" cy="2177415"/>
          </a:xfrm>
        </p:grpSpPr>
        <p:sp>
          <p:nvSpPr>
            <p:cNvPr id="25" name="TextBox 25"/>
            <p:cNvSpPr txBox="1"/>
            <p:nvPr/>
          </p:nvSpPr>
          <p:spPr>
            <a:xfrm>
              <a:off x="6280404" y="1108710"/>
              <a:ext cx="2217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Sidecar 优雅关闭（两阶段）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86500" y="1381125"/>
              <a:ext cx="5448300" cy="190500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6916" y="1582102"/>
              <a:ext cx="14136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 K8s 发送 SIGTERM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916" y="1820228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停止接收新任务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2058352"/>
              <a:ext cx="27034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 上报 shutdown → status=terminating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916" y="2296478"/>
              <a:ext cx="24277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等待已有任务完成（最长 10 分钟）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6916" y="2534602"/>
              <a:ext cx="22864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5. 上报 exit → status=terminated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7297" y="2847499"/>
              <a:ext cx="34466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意义：terminating 不分配新任务，但已有任务可执行完毕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3680460"/>
            <a:ext cx="5530596" cy="1605915"/>
            <a:chOff x="451104" y="3680460"/>
            <a:chExt cx="5530596" cy="1605915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3680460"/>
              <a:ext cx="24005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自定义 Autoscaler vs K8s HPA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7200" y="3952875"/>
              <a:ext cx="55245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6666" y="4125278"/>
              <a:ext cx="3259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HPA 看 CPU / Memory → 看不到 GPU 任务队列长度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666" y="4411028"/>
              <a:ext cx="29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Autoscaler 直接读 Redis 队列长度决策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4696778"/>
              <a:ext cx="40397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30s 定时触发 + Redis 分布式锁（同一时刻只有一个 Pod 执行）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4934902"/>
              <a:ext cx="2502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冷却机制：Redis ZSet 记录扩缩容历史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86500" y="3952875"/>
            <a:ext cx="5448300" cy="1333500"/>
            <a:chOff x="6286500" y="3952875"/>
            <a:chExt cx="5448300" cy="1333500"/>
          </a:xfrm>
        </p:grpSpPr>
        <p:sp>
          <p:nvSpPr>
            <p:cNvPr id="41" name="Rectangle 41"/>
            <p:cNvSpPr/>
            <p:nvPr/>
          </p:nvSpPr>
          <p:spPr>
            <a:xfrm>
              <a:off x="6286500" y="3952875"/>
              <a:ext cx="2667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rgbClr val="22C55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55972" y="411718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扩容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7297" y="4419124"/>
              <a:ext cx="12550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= 0 → 必须扩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297" y="4657249"/>
              <a:ext cx="13283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≤ 队列/2 → 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7297" y="4895374"/>
              <a:ext cx="1539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唤醒 terminated Worker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67800" y="3952875"/>
              <a:ext cx="266700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 w="9525">
              <a:solidFill>
                <a:srgbClr val="EF4444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237272" y="411718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120" b="1" dirty="0">
                  <a:solidFill>
                    <a:srgbClr val="EF4444"/>
                  </a:solidFill>
                  <a:latin typeface="+mn-lt"/>
                  <a:ea typeface="+mn-ea"/>
                  <a:cs typeface="+mn-cs"/>
                </a:rPr>
                <a:t>缩容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48597" y="4419124"/>
              <a:ext cx="1323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Running &gt; MinWorker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48597" y="4657249"/>
              <a:ext cx="10486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当前不忙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48597" y="4895374"/>
              <a:ext cx="1600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98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空闲 &gt; ScaleDownIdleTime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57200" y="5524500"/>
            <a:ext cx="11277600" cy="571500"/>
            <a:chOff x="457200" y="5524500"/>
            <a:chExt cx="11277600" cy="571500"/>
          </a:xfrm>
        </p:grpSpPr>
        <p:sp>
          <p:nvSpPr>
            <p:cNvPr id="52" name="Rectangle 52"/>
            <p:cNvSpPr/>
            <p:nvPr/>
          </p:nvSpPr>
          <p:spPr>
            <a:xfrm>
              <a:off x="457200" y="5524500"/>
              <a:ext cx="11277600" cy="57150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6666" y="57540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安全检查：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899666" y="5754052"/>
              <a:ext cx="4409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 pending / terminating Worker 时跳过本轮 → 防止雪球式过度扩容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57200"/>
            <a:ext cx="3257398" cy="541401"/>
            <a:chOff x="457200" y="457200"/>
            <a:chExt cx="3257398" cy="541401"/>
          </a:xfrm>
        </p:grpSpPr>
        <p:sp>
          <p:nvSpPr>
            <p:cNvPr id="2" name="Rectangle 2"/>
            <p:cNvSpPr/>
            <p:nvPr/>
          </p:nvSpPr>
          <p:spPr>
            <a:xfrm>
              <a:off x="457200" y="457200"/>
              <a:ext cx="57150" cy="342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3984" y="470535"/>
              <a:ext cx="3080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关键设计决策总结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095375"/>
            <a:ext cx="11277600" cy="647700"/>
            <a:chOff x="457200" y="1095375"/>
            <a:chExt cx="11277600" cy="647700"/>
          </a:xfrm>
        </p:grpSpPr>
        <p:sp>
          <p:nvSpPr>
            <p:cNvPr id="5" name="Rectangle 5"/>
            <p:cNvSpPr/>
            <p:nvPr/>
          </p:nvSpPr>
          <p:spPr>
            <a:xfrm>
              <a:off x="457200" y="1095375"/>
              <a:ext cx="112776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095375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25158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三套存储各司其职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505902"/>
              <a:ext cx="6106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Redis 做吞吐（队列+缓存） · MongoDB 做持久（记录+审计） · etcd 做一致性（注册+Watch）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857375"/>
            <a:ext cx="11277600" cy="647700"/>
            <a:chOff x="457200" y="1857375"/>
            <a:chExt cx="11277600" cy="647700"/>
          </a:xfrm>
        </p:grpSpPr>
        <p:sp>
          <p:nvSpPr>
            <p:cNvPr id="10" name="Rectangle 10"/>
            <p:cNvSpPr/>
            <p:nvPr/>
          </p:nvSpPr>
          <p:spPr>
            <a:xfrm>
              <a:off x="457200" y="1857375"/>
              <a:ext cx="112776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57200" y="1857375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013585"/>
              <a:ext cx="1350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Worker Pull 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2267902"/>
              <a:ext cx="35635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Worker 主动上报空闲 → 天然背压 → Worker 不会被打爆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2619375"/>
            <a:ext cx="11277600" cy="647700"/>
            <a:chOff x="457200" y="2619375"/>
            <a:chExt cx="11277600" cy="647700"/>
          </a:xfrm>
        </p:grpSpPr>
        <p:sp>
          <p:nvSpPr>
            <p:cNvPr id="15" name="Rectangle 15"/>
            <p:cNvSpPr/>
            <p:nvPr/>
          </p:nvSpPr>
          <p:spPr>
            <a:xfrm>
              <a:off x="457200" y="2619375"/>
              <a:ext cx="112776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57200" y="2619375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904" y="2775585"/>
              <a:ext cx="180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 Pod 并行 + 乐观抢占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3029902"/>
              <a:ext cx="4222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etcd Watch 同步状态 + Redis ZRem 竞争任务 → 无需 Leader 选举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3381375"/>
            <a:ext cx="11277600" cy="647700"/>
            <a:chOff x="457200" y="3381375"/>
            <a:chExt cx="11277600" cy="647700"/>
          </a:xfrm>
        </p:grpSpPr>
        <p:sp>
          <p:nvSpPr>
            <p:cNvPr id="20" name="Rectangle 20"/>
            <p:cNvSpPr/>
            <p:nvPr/>
          </p:nvSpPr>
          <p:spPr>
            <a:xfrm>
              <a:off x="457200" y="3381375"/>
              <a:ext cx="112776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57200" y="3381375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5904" y="3537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两轮扫描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6666" y="3791902"/>
              <a:ext cx="50402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第一轮公平性优先（跳过冲突用户） · 第二轮吞吐量兜底（不让 Worker 空闲）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4143375"/>
            <a:ext cx="11277600" cy="647700"/>
            <a:chOff x="457200" y="4143375"/>
            <a:chExt cx="11277600" cy="647700"/>
          </a:xfrm>
        </p:grpSpPr>
        <p:sp>
          <p:nvSpPr>
            <p:cNvPr id="25" name="Rectangle 25"/>
            <p:cNvSpPr/>
            <p:nvPr/>
          </p:nvSpPr>
          <p:spPr>
            <a:xfrm>
              <a:off x="457200" y="4143375"/>
              <a:ext cx="112776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7200" y="4143375"/>
              <a:ext cx="57150" cy="647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5904" y="4299585"/>
              <a:ext cx="1255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先加载再 Watch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666" y="4553902"/>
              <a:ext cx="45125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Hans" sz="10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启动时从 etcd 全量加载建立基线 → 然后 Watch 增量更新 → 最终一致性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43000" y="5143500"/>
            <a:ext cx="9906000" cy="952500"/>
            <a:chOff x="1143000" y="5143500"/>
            <a:chExt cx="9906000" cy="952500"/>
          </a:xfrm>
        </p:grpSpPr>
        <p:sp>
          <p:nvSpPr>
            <p:cNvPr id="30" name="Rectangle 30"/>
            <p:cNvSpPr/>
            <p:nvPr/>
          </p:nvSpPr>
          <p:spPr>
            <a:xfrm>
              <a:off x="1143000" y="5143500"/>
              <a:ext cx="9906000" cy="952500"/>
            </a:xfrm>
            <a:prstGeom prst="roundRect">
              <a:avLst>
                <a:gd name="adj" fmla="val 12000"/>
              </a:avLst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41913" y="5377815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不同语义用不同存储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1913" y="57111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Han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不同场景用不同策略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573980" y="64779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Hans" sz="105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cheduler-architecture">
  <a:themeElements>
    <a:clrScheme name="scheduler-architecture">
      <a:dk1>
        <a:srgbClr val="E2E8F0"/>
      </a:dk1>
      <a:lt1>
        <a:srgbClr val="0F172A"/>
      </a:lt1>
      <a:dk2>
        <a:srgbClr val="1F497D"/>
      </a:dk2>
      <a:lt2>
        <a:srgbClr val="1E293B"/>
      </a:lt2>
      <a:accent1>
        <a:srgbClr val="38BDF8"/>
      </a:accent1>
      <a:accent2>
        <a:srgbClr val="F97316"/>
      </a:accent2>
      <a:accent3>
        <a:srgbClr val="A78BFA"/>
      </a:accent3>
      <a:accent4>
        <a:srgbClr val="38BDF8"/>
      </a:accent4>
      <a:accent5>
        <a:srgbClr val="4BACC6"/>
      </a:accent5>
      <a:accent6>
        <a:srgbClr val="F79646"/>
      </a:accent6>
      <a:hlink>
        <a:srgbClr val="F97316"/>
      </a:hlink>
      <a:folHlink>
        <a:srgbClr val="A78BFA"/>
      </a:folHlink>
    </a:clrScheme>
    <a:fontScheme name="scheduler-architecture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eduler-architect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cheduler-architecture">
  <a:themeElements>
    <a:clrScheme name="scheduler-architecture">
      <a:dk1>
        <a:srgbClr val="E2E8F0"/>
      </a:dk1>
      <a:lt1>
        <a:srgbClr val="0F172A"/>
      </a:lt1>
      <a:dk2>
        <a:srgbClr val="1F497D"/>
      </a:dk2>
      <a:lt2>
        <a:srgbClr val="1E293B"/>
      </a:lt2>
      <a:accent1>
        <a:srgbClr val="38BDF8"/>
      </a:accent1>
      <a:accent2>
        <a:srgbClr val="F97316"/>
      </a:accent2>
      <a:accent3>
        <a:srgbClr val="A78BFA"/>
      </a:accent3>
      <a:accent4>
        <a:srgbClr val="38BDF8"/>
      </a:accent4>
      <a:accent5>
        <a:srgbClr val="4BACC6"/>
      </a:accent5>
      <a:accent6>
        <a:srgbClr val="F79646"/>
      </a:accent6>
      <a:hlink>
        <a:srgbClr val="F97316"/>
      </a:hlink>
      <a:folHlink>
        <a:srgbClr val="A78BFA"/>
      </a:folHlink>
    </a:clrScheme>
    <a:fontScheme name="scheduler-architecture">
      <a:maj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Microsoft YaHei"/>
        <a:cs typeface="Inter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eduler-architect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zh-Hans</dc:language>
  <cp:lastModifiedBy/>
  <cp:revision>1</cp:revision>
  <dcterms:created xsi:type="dcterms:W3CDTF">2026-08-13T13:29:21Z</dcterms:created>
  <dcterms:modified xsi:type="dcterms:W3CDTF">2026-08-13T13:29:21Z</dcterms:modified>
  <cp:category/>
  <cp:contentStatus/>
</cp:coreProperties>
</file>