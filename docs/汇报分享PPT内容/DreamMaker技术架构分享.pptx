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  <Relationship Id="rId25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各位好，今天分享 DreamMaker 平台的技术架构。DreamMaker 是内部 AI 美术平台，统一封装文生图、图生视频、3D 生成等 AI 模型。我会从部署拓扑开始，依次讲前端、本地 Agent 服务、云端调度三个模块。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系统运行在三个物理位置：用户桌面的 Electron 客户端、同样在本地的 Python Agent 服务（打包在一起自动拉起）、以及云端的 Go 微服务集群。通信方式不同：前端和 Agent 之间 SSE 长连接做流式推送；Agent 到云端分两条链路——调 AIGW 做 LLM 推理是全链路流式的，调 Scheduler 做生成任务是 REST 轮询。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前端是 Electron 应用，左边画布区域基于 React Flow，用户创建各种生成节点并连线表示引用关系。右边 Agent 聊天面板支持自然语言驱动操作。用户有两条路径：手动操作画布或通过 Agent 对话。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画布数据不在本地，存在云端 dm-tapnow-backend。本地 Agent 是纯计算节点，唯一持久化数据是 SQLite 里的对话 checkpoint。通信模型是 POST /chat 发起 SSE 长连接，审批走 POST /resume。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Agent 核心是 ReAct 循环：推理→工具调用→观察→继续。底层是 LangGraph StateGraph 状态机。LLM 通过 ChatAIGW 流式调用 AIGW 网关，状态用 AsyncSqliteSaver 持久化到本地 SQLite。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服务是 asyncio 单线程事件循环，所有请求都是协程。关键原则：任何同步阻塞会冻住整个服务。所有 I/O 用异步版本——httpx、asyncio.sleep、async LLM 方法。协程在 await 时切换，宏观上像并发。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画布数据需要在深层调用链使用，但中间隔着 LangGraph 框架改不了签名。用 ContextVar 解决：入口写入，深层直接读取。价值是免传参和请求内缓存——入口拉一次画布数据，同一请求内复用。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Agent 回复用 Message/Block 双层结构：Message 是容器，Block 是内容片段，每种 type 独立渲染。SSE 事件对应 Block 生命周期。DeepAgentStreamAdapter 把 LangGraph 内部事件翻译成前端协议，实现框架解耦。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上下文注入三层：画布概览注入到每次 LLM 调用前、按需工具查询节点详情、Token 预算三道防线（预检→裁剪→摘要压缩）。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审批流程四步：LangGraph 抛 GraphInterrupt 异常中断并持久化 state → 推 interaction.request 事件 → asyncio.Event 等待 300 秒 → 用户决策后 Command resume 恢复状态机。要求 interrupt 前代码幂等。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Agent 通过 DmProvider POST 提交生成任务拿 task_id，然后固定间隔轮询——图像 5s、3D 10s、视频 30s。结果通过 block.updated 推给前端。轮询对象是 Scheduler，不是 AIGW。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云端四个组件：app-gateway 做入口校验、worker-scheduler 做调度、worker-sidecar 执行、AIGW 对接供应商。完整链路：提交 → Redis 入队 + MongoDB 记录 → 消费分配 → 执行 → Report 回写 + Kafka → 轮询返回。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Redis ZSet 优先级队列，加权轮询防饥饿——每个优先级按 weight 分配配额，耗尽重置。消费三层：加权选队列→尝试→降序兜底。无锁抢占用 ZREM 原子性——谁删成功谁拥有，比分布式锁简单高效。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ConcurrentManager 用内存原子计数器（CAS 循环）限制用户并发。etcd Watch 驱动：PUT +1、DELETE -1。多 Pod 各自 Watch 同一前缀保持最终一致。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Worker 生命周期：启动注册到 etcd → 30s 心跳 → 宕机后 Lease 过期自动删 key → Watch 触发三步清理。两套 Lease：scheduler 侧 7200s（任务），api-kube 侧 3600s（Pod）。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GPU Worker 不能用 HPA（满载时 CPU 闲会误判），自定义 Autoscaler 基于队列积压深度。扩容唤醒 terminated Pod，需要有可复用 Pod 才会扩。五个防护：冷却机制、优雅下线、最小副本数、安全检查、SetNX 互斥锁。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容错三层：executeWithRetry 做 3 次指数退避快速重试；queue-retry 针对 429 限流做长退避最长 12 小时；Fallback chain 按模型粒度线性切换供应商，无状态 per-request。可优化方向是熔断器。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回顾全链路——用户操作 → Electron → Agent → Scheduler → Worker → 供应商 → 结果回传。三个模块亮点：Agent 的全链路流式+HITL 审批、Scheduler 的加权调度+无锁抢占、Worker 的三层容错+GPU 自定义扩缩容。谢谢大家。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m-system-overview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m-system-overview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8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120"/>
            </a:gs>
            <a:gs pos="100000">
              <a:srgbClr val="0F1D3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001000" y="-571500"/>
            <a:ext cx="4953000" cy="4953000"/>
          </a:xfrm>
          <a:prstGeom prst="ellipse">
            <a:avLst/>
          </a:prstGeom>
          <a:solidFill>
            <a:srgbClr val="3B82F6">
              <a:alpha val="4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0" y="3810000"/>
            <a:ext cx="3429000" cy="3429000"/>
          </a:xfrm>
          <a:prstGeom prst="ellipse">
            <a:avLst/>
          </a:prstGeom>
          <a:solidFill>
            <a:srgbClr val="06B6D4">
              <a:alpha val="3000"/>
            </a:srgbClr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2701888" y="2023110"/>
            <a:ext cx="6788224" cy="1330452"/>
            <a:chOff x="2701888" y="2023110"/>
            <a:chExt cx="6788224" cy="1330452"/>
          </a:xfrm>
        </p:grpSpPr>
        <p:sp>
          <p:nvSpPr>
            <p:cNvPr id="5" name="TextBox 5"/>
            <p:cNvSpPr txBox="1"/>
            <p:nvPr/>
          </p:nvSpPr>
          <p:spPr>
            <a:xfrm>
              <a:off x="2701888" y="2023110"/>
              <a:ext cx="678822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rgbClr val="F1F5F9"/>
                  </a:solidFill>
                  <a:effectLst>
                    <a:glow rad="76200">
                      <a:srgbClr val="3B82F6">
                        <a:alpha val="35000"/>
                      </a:srgbClr>
                    </a:glow>
                  </a:effectLst>
                  <a:latin typeface="Calibri"/>
                  <a:ea typeface="Microsoft YaHei"/>
                  <a:cs typeface="Calibri"/>
                </a:rPr>
                <a:t>DreamMaker AI 美术平台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14544" y="288417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技术架构分享</a:t>
              </a:r>
            </a:p>
          </p:txBody>
        </p:sp>
      </p:grpSp>
      <p:sp>
        <p:nvSpPr>
          <p:cNvPr id="8" name="Rectangle 8"/>
          <p:cNvSpPr/>
          <p:nvPr/>
        </p:nvSpPr>
        <p:spPr>
          <a:xfrm>
            <a:off x="5143500" y="3524250"/>
            <a:ext cx="1905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0" scaled="1"/>
          </a:gra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4363524" y="4108132"/>
            <a:ext cx="3464951" cy="322707"/>
            <a:chOff x="4363524" y="4108132"/>
            <a:chExt cx="3464951" cy="322707"/>
          </a:xfrm>
        </p:grpSpPr>
        <p:sp>
          <p:nvSpPr>
            <p:cNvPr id="9" name="TextBox 9"/>
            <p:cNvSpPr txBox="1"/>
            <p:nvPr/>
          </p:nvSpPr>
          <p:spPr>
            <a:xfrm>
              <a:off x="4363524" y="4108132"/>
              <a:ext cx="34649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部署拓扑 · Agent 引擎 · 云端调度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39298" y="5474018"/>
            <a:ext cx="713403" cy="264033"/>
            <a:chOff x="5739298" y="5474018"/>
            <a:chExt cx="713403" cy="264033"/>
          </a:xfrm>
        </p:grpSpPr>
        <p:sp>
          <p:nvSpPr>
            <p:cNvPr id="11" name="TextBox 11"/>
            <p:cNvSpPr txBox="1"/>
            <p:nvPr/>
          </p:nvSpPr>
          <p:spPr>
            <a:xfrm>
              <a:off x="5739298" y="5474018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64748B"/>
                  </a:solidFill>
                  <a:latin typeface="Calibri"/>
                  <a:ea typeface="Calibri"/>
                  <a:cs typeface="Calibri"/>
                </a:rPr>
                <a:t>2026.09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7784" y="356235"/>
            <a:ext cx="4025646" cy="528066"/>
            <a:chOff x="557784" y="356235"/>
            <a:chExt cx="4025646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557784" y="356235"/>
              <a:ext cx="402564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部署拓扑：三个物理位置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781050"/>
              <a:ext cx="1143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B82F6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71500" y="1143000"/>
            <a:ext cx="3238500" cy="2286000"/>
            <a:chOff x="571500" y="1143000"/>
            <a:chExt cx="3238500" cy="2286000"/>
          </a:xfrm>
        </p:grpSpPr>
        <p:sp>
          <p:nvSpPr>
            <p:cNvPr id="5" name="Rectangle 5"/>
            <p:cNvSpPr/>
            <p:nvPr/>
          </p:nvSpPr>
          <p:spPr>
            <a:xfrm>
              <a:off x="571500" y="1143000"/>
              <a:ext cx="3238500" cy="2286000"/>
            </a:xfrm>
            <a:prstGeom prst="roundRect">
              <a:avLst>
                <a:gd name="adj" fmla="val 5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6666" y="1363028"/>
              <a:ext cx="7022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① 用户桌面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762000" y="1619250"/>
              <a:ext cx="2857500" cy="666750"/>
            </a:xfrm>
            <a:prstGeom prst="roundRect">
              <a:avLst>
                <a:gd name="adj" fmla="val 11429"/>
              </a:avLst>
            </a:prstGeom>
            <a:solidFill>
              <a:srgbClr val="0F172A"/>
            </a:solidFill>
            <a:ln w="9525">
              <a:solidFill>
                <a:srgbClr val="3B82F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81770" y="1854518"/>
              <a:ext cx="14179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Electron 客户端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75395" y="2085499"/>
              <a:ext cx="12307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React + TypeScript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2476500"/>
              <a:ext cx="2857500" cy="762000"/>
            </a:xfrm>
            <a:prstGeom prst="roundRect">
              <a:avLst>
                <a:gd name="adj" fmla="val 10000"/>
              </a:avLst>
            </a:prstGeom>
            <a:solidFill>
              <a:srgbClr val="0F172A"/>
            </a:solidFill>
            <a:ln w="9525">
              <a:solidFill>
                <a:srgbClr val="06B6D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29955" y="2664142"/>
              <a:ext cx="17215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1F5F9"/>
                  </a:solidFill>
                  <a:latin typeface="Calibri"/>
                  <a:ea typeface="Calibri"/>
                  <a:cs typeface="Calibri"/>
                </a:rPr>
                <a:t>② dm-monet-agent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15093" y="2923699"/>
              <a:ext cx="21513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Python · DeepAgents · LangGraph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334000" y="1143000"/>
            <a:ext cx="6286500" cy="2286000"/>
            <a:chOff x="5334000" y="1143000"/>
            <a:chExt cx="6286500" cy="2286000"/>
          </a:xfrm>
        </p:grpSpPr>
        <p:sp>
          <p:nvSpPr>
            <p:cNvPr id="14" name="Rectangle 14"/>
            <p:cNvSpPr/>
            <p:nvPr/>
          </p:nvSpPr>
          <p:spPr>
            <a:xfrm>
              <a:off x="5334000" y="1143000"/>
              <a:ext cx="6286500" cy="2286000"/>
            </a:xfrm>
            <a:prstGeom prst="roundRect">
              <a:avLst>
                <a:gd name="adj" fmla="val 5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519166" y="1363028"/>
              <a:ext cx="8435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③ 云端服务器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524500" y="1619250"/>
              <a:ext cx="1905000" cy="666750"/>
            </a:xfrm>
            <a:prstGeom prst="roundRect">
              <a:avLst>
                <a:gd name="adj" fmla="val 11429"/>
              </a:avLst>
            </a:prstGeom>
            <a:solidFill>
              <a:srgbClr val="0F172A"/>
            </a:solidFill>
            <a:ln w="9525">
              <a:solidFill>
                <a:srgbClr val="3B82F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40838" y="1870710"/>
              <a:ext cx="10723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1F5F9"/>
                  </a:solidFill>
                  <a:latin typeface="Calibri"/>
                  <a:ea typeface="Calibri"/>
                  <a:cs typeface="Calibri"/>
                </a:rPr>
                <a:t>app-gateway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0" y="1619250"/>
              <a:ext cx="1905000" cy="666750"/>
            </a:xfrm>
            <a:prstGeom prst="roundRect">
              <a:avLst>
                <a:gd name="adj" fmla="val 11429"/>
              </a:avLst>
            </a:prstGeom>
            <a:solidFill>
              <a:srgbClr val="0F172A"/>
            </a:solidFill>
            <a:ln w="9525">
              <a:solidFill>
                <a:srgbClr val="3B82F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824311" y="1870710"/>
              <a:ext cx="14963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1F5F9"/>
                  </a:solidFill>
                  <a:latin typeface="Calibri"/>
                  <a:ea typeface="Calibri"/>
                  <a:cs typeface="Calibri"/>
                </a:rPr>
                <a:t>worker-scheduler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524500" y="2476500"/>
              <a:ext cx="1905000" cy="762000"/>
            </a:xfrm>
            <a:prstGeom prst="roundRect">
              <a:avLst>
                <a:gd name="adj" fmla="val 10000"/>
              </a:avLst>
            </a:prstGeom>
            <a:solidFill>
              <a:srgbClr val="0F172A"/>
            </a:solidFill>
            <a:ln w="9525">
              <a:solidFill>
                <a:srgbClr val="06B6D4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982515" y="2680335"/>
              <a:ext cx="9889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Worker 集群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992627" y="2923699"/>
              <a:ext cx="9687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10 大类 Worker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20000" y="2476500"/>
              <a:ext cx="1905000" cy="762000"/>
            </a:xfrm>
            <a:prstGeom prst="roundRect">
              <a:avLst>
                <a:gd name="adj" fmla="val 10000"/>
              </a:avLst>
            </a:prstGeom>
            <a:solidFill>
              <a:srgbClr val="0F172A"/>
            </a:solidFill>
            <a:ln w="9525">
              <a:solidFill>
                <a:srgbClr val="22D3EE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176169" y="2680335"/>
              <a:ext cx="7926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AIGW 网关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78302" y="2923699"/>
              <a:ext cx="5883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LLM 推理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472166" y="1363028"/>
              <a:ext cx="6741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Calibri"/>
                  <a:ea typeface="Calibri"/>
                  <a:cs typeface="Calibri"/>
                </a:rPr>
                <a:t>Go · dmfr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810000" y="1760220"/>
            <a:ext cx="1524000" cy="201930"/>
            <a:chOff x="3810000" y="1760220"/>
            <a:chExt cx="1524000" cy="201930"/>
          </a:xfrm>
        </p:grpSpPr>
        <p:sp>
          <p:nvSpPr>
            <p:cNvPr id="28" name="Line 28"/>
            <p:cNvSpPr/>
            <p:nvPr/>
          </p:nvSpPr>
          <p:spPr>
            <a:xfrm>
              <a:off x="3810000" y="1952625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19050">
              <a:solidFill>
                <a:srgbClr val="3B82F6"/>
              </a:solidFill>
              <a:prstDash val="lgDash"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250398" y="1760220"/>
              <a:ext cx="6432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3B82F6"/>
                  </a:solidFill>
                  <a:latin typeface="Calibri"/>
                  <a:ea typeface="Microsoft YaHei"/>
                  <a:cs typeface="Calibri"/>
                </a:rPr>
                <a:t>SSE 长连接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3619500" y="2550795"/>
            <a:ext cx="1714500" cy="331946"/>
            <a:chOff x="3619500" y="2550795"/>
            <a:chExt cx="1714500" cy="331946"/>
          </a:xfrm>
        </p:grpSpPr>
        <p:sp>
          <p:nvSpPr>
            <p:cNvPr id="31" name="Line 31"/>
            <p:cNvSpPr/>
            <p:nvPr/>
          </p:nvSpPr>
          <p:spPr>
            <a:xfrm>
              <a:off x="3619500" y="2714625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  <a:prstDash val="lgDash"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183952" y="2550795"/>
              <a:ext cx="5855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流式 HTTP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196016" y="2720816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全链路流式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3619500" y="3093720"/>
            <a:ext cx="1714500" cy="312896"/>
            <a:chOff x="3619500" y="3093720"/>
            <a:chExt cx="1714500" cy="312896"/>
          </a:xfrm>
        </p:grpSpPr>
        <p:sp>
          <p:nvSpPr>
            <p:cNvPr id="35" name="Line 35"/>
            <p:cNvSpPr/>
            <p:nvPr/>
          </p:nvSpPr>
          <p:spPr>
            <a:xfrm>
              <a:off x="3619500" y="32385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19050">
              <a:solidFill>
                <a:srgbClr val="F59E0B"/>
              </a:solidFill>
              <a:prstDash val="lgDash"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331170" y="3093720"/>
              <a:ext cx="2911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F59E0B"/>
                  </a:solidFill>
                  <a:latin typeface="Calibri"/>
                  <a:ea typeface="Calibri"/>
                  <a:cs typeface="Calibri"/>
                </a:rPr>
                <a:t>REST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034600" y="3244691"/>
              <a:ext cx="88430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POST + GET 轮询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71500" y="3810000"/>
            <a:ext cx="11049000" cy="1809750"/>
            <a:chOff x="571500" y="3810000"/>
            <a:chExt cx="11049000" cy="1809750"/>
          </a:xfrm>
        </p:grpSpPr>
        <p:sp>
          <p:nvSpPr>
            <p:cNvPr id="39" name="Rectangle 39"/>
            <p:cNvSpPr/>
            <p:nvPr/>
          </p:nvSpPr>
          <p:spPr>
            <a:xfrm>
              <a:off x="571500" y="3810000"/>
              <a:ext cx="3524250" cy="9525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5904" y="3985260"/>
              <a:ext cx="1007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B82F6"/>
                  </a:solidFill>
                  <a:latin typeface="Calibri"/>
                  <a:ea typeface="Microsoft YaHei"/>
                  <a:cs typeface="Calibri"/>
                </a:rPr>
                <a:t>前端 ↔ Agent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6666" y="4268152"/>
              <a:ext cx="24295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SSE 长连接 · LLM 逐 token 流式推送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6666" y="4477702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半双工：服务端推、客户端收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4333875" y="3810000"/>
              <a:ext cx="3524250" cy="9525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518279" y="3985260"/>
              <a:ext cx="10706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2D3EE"/>
                  </a:solidFill>
                  <a:latin typeface="Calibri"/>
                  <a:ea typeface="Calibri"/>
                  <a:cs typeface="Calibri"/>
                </a:rPr>
                <a:t>Agent → AIGW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519041" y="4268152"/>
              <a:ext cx="23534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OpenAI 兼容流式接口 stream: true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519041" y="4477702"/>
              <a:ext cx="18768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Token 从 AIGW 一路流到前端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096250" y="3810000"/>
              <a:ext cx="3524250" cy="9525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280654" y="3985260"/>
              <a:ext cx="14827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59E0B"/>
                  </a:solidFill>
                  <a:latin typeface="Calibri"/>
                  <a:ea typeface="Calibri"/>
                  <a:cs typeface="Calibri"/>
                </a:rPr>
                <a:t>Agent → Scheduler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81416" y="4268152"/>
              <a:ext cx="10561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标准 HTTP REST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281416" y="4477702"/>
              <a:ext cx="17730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POST 提交 · GET 轮询状态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71500" y="5048250"/>
              <a:ext cx="11049000" cy="571500"/>
            </a:xfrm>
            <a:prstGeom prst="roundRect">
              <a:avLst>
                <a:gd name="adj" fmla="val 16667"/>
              </a:avLst>
            </a:prstGeom>
            <a:solidFill>
              <a:srgbClr val="172554">
                <a:alpha val="50000"/>
              </a:srgb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920367" y="5264468"/>
              <a:ext cx="63512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LLM 链路全链路流式 — Token 从 AIGW → 本地 Agent → 前端，无缓冲无阻塞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7784" y="356235"/>
            <a:ext cx="4418829" cy="528066"/>
            <a:chOff x="557784" y="356235"/>
            <a:chExt cx="4418829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557784" y="356235"/>
              <a:ext cx="441882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模块一：Electron 前端 UI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781050"/>
              <a:ext cx="1143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B82F6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571500" y="1047750"/>
            <a:ext cx="5524500" cy="3238500"/>
            <a:chOff x="571500" y="1047750"/>
            <a:chExt cx="5524500" cy="3238500"/>
          </a:xfrm>
        </p:grpSpPr>
        <p:sp>
          <p:nvSpPr>
            <p:cNvPr id="5" name="Rectangle 5"/>
            <p:cNvSpPr/>
            <p:nvPr/>
          </p:nvSpPr>
          <p:spPr>
            <a:xfrm>
              <a:off x="571500" y="1047750"/>
              <a:ext cx="5524500" cy="3238500"/>
            </a:xfrm>
            <a:prstGeom prst="roundRect">
              <a:avLst>
                <a:gd name="adj" fmla="val 3529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2390364" y="1203960"/>
              <a:ext cx="18867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B82F6"/>
                  </a:solidFill>
                  <a:latin typeface="Calibri"/>
                  <a:ea typeface="Microsoft YaHei"/>
                  <a:cs typeface="Calibri"/>
                </a:rPr>
                <a:t>画布区域（React Flow）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52500" y="1524000"/>
              <a:ext cx="1333500" cy="571500"/>
            </a:xfrm>
            <a:prstGeom prst="roundRect">
              <a:avLst>
                <a:gd name="adj" fmla="val 13333"/>
              </a:avLst>
            </a:prstGeom>
            <a:solidFill>
              <a:srgbClr val="0F172A"/>
            </a:solidFill>
            <a:ln w="9525">
              <a:solidFill>
                <a:srgbClr val="3B82F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31214" y="17440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图像生成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857500" y="1524000"/>
              <a:ext cx="1333500" cy="571500"/>
            </a:xfrm>
            <a:prstGeom prst="roundRect">
              <a:avLst>
                <a:gd name="adj" fmla="val 13333"/>
              </a:avLst>
            </a:prstGeom>
            <a:solidFill>
              <a:srgbClr val="0F172A"/>
            </a:solidFill>
            <a:ln w="9525">
              <a:solidFill>
                <a:srgbClr val="06B6D4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36214" y="17440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视频生成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572000" y="1524000"/>
              <a:ext cx="1333500" cy="571500"/>
            </a:xfrm>
            <a:prstGeom prst="roundRect">
              <a:avLst>
                <a:gd name="adj" fmla="val 13333"/>
              </a:avLst>
            </a:prstGeom>
            <a:solidFill>
              <a:srgbClr val="0F172A"/>
            </a:solidFill>
            <a:ln w="9525">
              <a:solidFill>
                <a:srgbClr val="22D3EE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979518" y="1744028"/>
              <a:ext cx="5184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3D 模型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2286000" y="18097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3B82F6"/>
              </a:solidFill>
              <a:prstDash val="dash"/>
            </a:ln>
          </p:spPr>
        </p:sp>
        <p:sp>
          <p:nvSpPr>
            <p:cNvPr id="14" name="Line 14"/>
            <p:cNvSpPr/>
            <p:nvPr/>
          </p:nvSpPr>
          <p:spPr>
            <a:xfrm>
              <a:off x="4191000" y="18097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06B6D4"/>
              </a:solidFill>
              <a:prstDash val="dash"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905000" y="2476500"/>
              <a:ext cx="1333500" cy="571500"/>
            </a:xfrm>
            <a:prstGeom prst="roundRect">
              <a:avLst>
                <a:gd name="adj" fmla="val 13333"/>
              </a:avLst>
            </a:prstGeom>
            <a:solidFill>
              <a:srgbClr val="0F172A"/>
            </a:solidFill>
            <a:ln w="9525">
              <a:solidFill>
                <a:srgbClr val="F59E0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425065" y="26965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音频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619500" y="2476500"/>
              <a:ext cx="1333500" cy="571500"/>
            </a:xfrm>
            <a:prstGeom prst="roundRect">
              <a:avLst>
                <a:gd name="adj" fmla="val 13333"/>
              </a:avLst>
            </a:prstGeom>
            <a:solidFill>
              <a:srgbClr val="0F172A"/>
            </a:solidFill>
            <a:ln w="9525">
              <a:solidFill>
                <a:srgbClr val="94A3B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139565" y="26965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文本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603195" y="3514249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节点可连线表示引用关系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03195" y="3704749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每种节点有独立参数面板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381750" y="1047750"/>
            <a:ext cx="5238750" cy="3238500"/>
            <a:chOff x="6381750" y="1047750"/>
            <a:chExt cx="5238750" cy="3238500"/>
          </a:xfrm>
        </p:grpSpPr>
        <p:sp>
          <p:nvSpPr>
            <p:cNvPr id="22" name="Rectangle 22"/>
            <p:cNvSpPr/>
            <p:nvPr/>
          </p:nvSpPr>
          <p:spPr>
            <a:xfrm>
              <a:off x="6381750" y="1047750"/>
              <a:ext cx="5238750" cy="3238500"/>
            </a:xfrm>
            <a:prstGeom prst="roundRect">
              <a:avLst>
                <a:gd name="adj" fmla="val 3529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406683" y="1203960"/>
              <a:ext cx="11888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Agent 聊天面板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667500" y="1524000"/>
              <a:ext cx="4667250" cy="476250"/>
            </a:xfrm>
            <a:prstGeom prst="roundRect">
              <a:avLst>
                <a:gd name="adj" fmla="val 1600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852666" y="1696402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用户：帮我生成一张赛博朋克风格的图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667500" y="2143125"/>
              <a:ext cx="4667250" cy="762000"/>
            </a:xfrm>
            <a:prstGeom prst="roundRect">
              <a:avLst>
                <a:gd name="adj" fmla="val 10000"/>
              </a:avLst>
            </a:prstGeom>
            <a:solidFill>
              <a:srgbClr val="17255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852666" y="2286952"/>
              <a:ext cx="114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B82F6"/>
                  </a:solidFill>
                  <a:latin typeface="Calibri"/>
                  <a:ea typeface="Microsoft YaHei"/>
                  <a:cs typeface="Calibri"/>
                </a:rPr>
                <a:t>Agent 思考中...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53047" y="2514124"/>
              <a:ext cx="17381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→ 调用 generate_image 工具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53047" y="2704624"/>
              <a:ext cx="15732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→ 创建图像节点，填入参数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667500" y="3048000"/>
              <a:ext cx="4667250" cy="476250"/>
            </a:xfrm>
            <a:prstGeom prst="roundRect">
              <a:avLst>
                <a:gd name="adj" fmla="val 1600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52666" y="3220402"/>
              <a:ext cx="23050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Agent：已生成赛博朋克风格图片 ✓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83133" y="3799999"/>
              <a:ext cx="18359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自然语言驱动 · SSE 流式协议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71500" y="4572000"/>
            <a:ext cx="11049000" cy="1428750"/>
            <a:chOff x="571500" y="4572000"/>
            <a:chExt cx="11049000" cy="1428750"/>
          </a:xfrm>
        </p:grpSpPr>
        <p:sp>
          <p:nvSpPr>
            <p:cNvPr id="34" name="Rectangle 34"/>
            <p:cNvSpPr/>
            <p:nvPr/>
          </p:nvSpPr>
          <p:spPr>
            <a:xfrm>
              <a:off x="571500" y="4572000"/>
              <a:ext cx="5238750" cy="1428750"/>
            </a:xfrm>
            <a:prstGeom prst="roundRect">
              <a:avLst>
                <a:gd name="adj" fmla="val 6667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54380" y="474345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B82F6"/>
                  </a:solidFill>
                  <a:latin typeface="Calibri"/>
                  <a:ea typeface="Microsoft YaHei"/>
                  <a:cs typeface="Calibri"/>
                </a:rPr>
                <a:t>路径一：手动操作画布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5904" y="5061585"/>
              <a:ext cx="264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直接创建节点 → 填写参数 → 点击生成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5904" y="5318760"/>
              <a:ext cx="2231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前端直接调后端 API 提交任务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6666" y="5601652"/>
              <a:ext cx="8755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不经过 Agent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096000" y="4572000"/>
              <a:ext cx="5524500" cy="1428750"/>
            </a:xfrm>
            <a:prstGeom prst="roundRect">
              <a:avLst>
                <a:gd name="adj" fmla="val 6667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278880" y="4743450"/>
              <a:ext cx="23029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路径二：Agent 对话驱动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80404" y="5061585"/>
              <a:ext cx="26588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自然语言指令 → Agent 自动操作画布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80404" y="5318760"/>
              <a:ext cx="26343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Agent 创建节点、填参数、提交生成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81166" y="5601652"/>
              <a:ext cx="10934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走 SSE 流式协议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7784" y="356235"/>
            <a:ext cx="4389120" cy="528066"/>
            <a:chOff x="557784" y="356235"/>
            <a:chExt cx="4389120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557784" y="356235"/>
              <a:ext cx="438912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画布数据存储与前后端通信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781050"/>
              <a:ext cx="1143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B82F6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71500" y="1047750"/>
            <a:ext cx="11049000" cy="666750"/>
            <a:chOff x="571500" y="1047750"/>
            <a:chExt cx="11049000" cy="666750"/>
          </a:xfrm>
        </p:grpSpPr>
        <p:sp>
          <p:nvSpPr>
            <p:cNvPr id="5" name="Rectangle 5"/>
            <p:cNvSpPr/>
            <p:nvPr/>
          </p:nvSpPr>
          <p:spPr>
            <a:xfrm>
              <a:off x="571500" y="1047750"/>
              <a:ext cx="11049000" cy="666750"/>
            </a:xfrm>
            <a:prstGeom prst="roundRect">
              <a:avLst>
                <a:gd name="adj" fmla="val 14286"/>
              </a:avLst>
            </a:prstGeom>
            <a:solidFill>
              <a:srgbClr val="172554">
                <a:alpha val="60000"/>
              </a:srgbClr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3448797" y="1269682"/>
              <a:ext cx="529440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画布数据不在本地 — 存在云端 dm-tapnow-backend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1905000"/>
            <a:ext cx="11049000" cy="1714500"/>
            <a:chOff x="571500" y="1905000"/>
            <a:chExt cx="11049000" cy="1714500"/>
          </a:xfrm>
        </p:grpSpPr>
        <p:sp>
          <p:nvSpPr>
            <p:cNvPr id="8" name="Rectangle 8"/>
            <p:cNvSpPr/>
            <p:nvPr/>
          </p:nvSpPr>
          <p:spPr>
            <a:xfrm>
              <a:off x="571500" y="1905000"/>
              <a:ext cx="2857500" cy="1714500"/>
            </a:xfrm>
            <a:prstGeom prst="roundRect">
              <a:avLst>
                <a:gd name="adj" fmla="val 6667"/>
              </a:avLst>
            </a:prstGeom>
            <a:solidFill>
              <a:srgbClr val="1E293B"/>
            </a:solidFill>
            <a:ln w="9525">
              <a:solidFill>
                <a:srgbClr val="3B82F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451389" y="2108835"/>
              <a:ext cx="10977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B82F6"/>
                  </a:solidFill>
                  <a:latin typeface="Calibri"/>
                  <a:ea typeface="Microsoft YaHei"/>
                  <a:cs typeface="Calibri"/>
                </a:rPr>
                <a:t>Electron 前端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08709" y="2382202"/>
              <a:ext cx="11830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操作画布 → 调 API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0188" y="260127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写入云端数据库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572000" y="1905000"/>
              <a:ext cx="2857500" cy="1714500"/>
            </a:xfrm>
            <a:prstGeom prst="roundRect">
              <a:avLst>
                <a:gd name="adj" fmla="val 6667"/>
              </a:avLst>
            </a:prstGeom>
            <a:solidFill>
              <a:srgbClr val="1E293B"/>
            </a:solidFill>
            <a:ln w="9525">
              <a:solidFill>
                <a:srgbClr val="06B6D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380576" y="2108835"/>
              <a:ext cx="12403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本地 Agent 服务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42038" y="23822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纯计算节点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30012" y="260127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不存任何画布数据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927603" y="2839402"/>
              <a:ext cx="21462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唯一持久化 = SQLite checkpoint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572500" y="1905000"/>
              <a:ext cx="3048000" cy="1714500"/>
            </a:xfrm>
            <a:prstGeom prst="roundRect">
              <a:avLst>
                <a:gd name="adj" fmla="val 6667"/>
              </a:avLst>
            </a:prstGeom>
            <a:solidFill>
              <a:srgbClr val="1E293B"/>
            </a:solidFill>
            <a:ln w="9525">
              <a:solidFill>
                <a:srgbClr val="22D3EE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87037" y="2108835"/>
              <a:ext cx="12189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画布后端 (云端)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02080" y="2382202"/>
              <a:ext cx="13888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dm-tapnow-backend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5086" y="26012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画布数据存储在这里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84411" y="28394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节点、连线、历史版本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3429000" y="276225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14288">
              <a:solidFill>
                <a:srgbClr val="3B82F6"/>
              </a:solidFill>
              <a:prstDash val="lgDash"/>
            </a:ln>
          </p:spPr>
        </p:sp>
        <p:sp>
          <p:nvSpPr>
            <p:cNvPr id="23" name="Line 23"/>
            <p:cNvSpPr/>
            <p:nvPr/>
          </p:nvSpPr>
          <p:spPr>
            <a:xfrm>
              <a:off x="7429500" y="276225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14288">
              <a:solidFill>
                <a:srgbClr val="06B6D4"/>
              </a:solidFill>
              <a:prstDash val="lgDash"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899512" y="2558891"/>
              <a:ext cx="20197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3B82F6"/>
                  </a:solidFill>
                  <a:latin typeface="Calibri"/>
                  <a:ea typeface="Calibri"/>
                  <a:cs typeface="Calibri"/>
                </a:rPr>
                <a:t>SSE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54216" y="2558891"/>
              <a:ext cx="49356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06B6D4"/>
                  </a:solidFill>
                  <a:latin typeface="Calibri"/>
                  <a:ea typeface="Calibri"/>
                  <a:cs typeface="Calibri"/>
                </a:rPr>
                <a:t>HTTP GET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63118" y="4298632"/>
            <a:ext cx="11057382" cy="1702118"/>
            <a:chOff x="563118" y="4298632"/>
            <a:chExt cx="11057382" cy="1702118"/>
          </a:xfrm>
        </p:grpSpPr>
        <p:sp>
          <p:nvSpPr>
            <p:cNvPr id="27" name="TextBox 27"/>
            <p:cNvSpPr txBox="1"/>
            <p:nvPr/>
          </p:nvSpPr>
          <p:spPr>
            <a:xfrm>
              <a:off x="563118" y="42986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通信模型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71500" y="4667250"/>
              <a:ext cx="5238750" cy="1333500"/>
            </a:xfrm>
            <a:prstGeom prst="roundRect">
              <a:avLst>
                <a:gd name="adj" fmla="val 7143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5142" y="48263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B82F6"/>
                  </a:solidFill>
                  <a:latin typeface="Calibri"/>
                  <a:ea typeface="Microsoft YaHei"/>
                  <a:cs typeface="Calibri"/>
                </a:rPr>
                <a:t>对话流程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5904" y="5128260"/>
              <a:ext cx="3401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1. 前端 POST /chat → SSE 长连接持续推事件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5904" y="5375910"/>
              <a:ext cx="37153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2. 需要审批 → POST /chat/{session_id}/resume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6666" y="5639752"/>
              <a:ext cx="22434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SSE 半双工：服务端推、客户端收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096000" y="4667250"/>
              <a:ext cx="5524500" cy="1333500"/>
            </a:xfrm>
            <a:prstGeom prst="roundRect">
              <a:avLst>
                <a:gd name="adj" fmla="val 7143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79642" y="4826318"/>
              <a:ext cx="17988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canvas.render 事件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80404" y="5128260"/>
              <a:ext cx="26865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Agent 创建节点后推 canvas.render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80404" y="5375910"/>
              <a:ext cx="17649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→ 前端全量刷新画布数据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81166" y="5639752"/>
              <a:ext cx="30942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因为 Agent 通过 HTTP 写云端，前端需重新拉取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7784" y="356235"/>
            <a:ext cx="8006910" cy="528066"/>
            <a:chOff x="557784" y="356235"/>
            <a:chExt cx="8006910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557784" y="356235"/>
              <a:ext cx="800691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模块二：Agent 引擎 DeepAgents + LangGraph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781050"/>
              <a:ext cx="1143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B82F6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563118" y="1155382"/>
            <a:ext cx="6675882" cy="2651379"/>
            <a:chOff x="563118" y="1155382"/>
            <a:chExt cx="6675882" cy="2651379"/>
          </a:xfrm>
        </p:grpSpPr>
        <p:sp>
          <p:nvSpPr>
            <p:cNvPr id="5" name="TextBox 5"/>
            <p:cNvSpPr txBox="1"/>
            <p:nvPr/>
          </p:nvSpPr>
          <p:spPr>
            <a:xfrm>
              <a:off x="563118" y="1155382"/>
              <a:ext cx="16528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B82F6"/>
                  </a:solidFill>
                  <a:latin typeface="Calibri"/>
                  <a:ea typeface="Microsoft YaHei"/>
                  <a:cs typeface="Calibri"/>
                </a:rPr>
                <a:t>ReAct 核心循环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952500" y="1619250"/>
              <a:ext cx="1714500" cy="571500"/>
            </a:xfrm>
            <a:prstGeom prst="roundRect">
              <a:avLst>
                <a:gd name="adj" fmla="val 16667"/>
              </a:avLst>
            </a:prstGeom>
            <a:solidFill>
              <a:srgbClr val="172554"/>
            </a:solidFill>
            <a:ln w="14288">
              <a:solidFill>
                <a:srgbClr val="3B82F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394121" y="1816418"/>
              <a:ext cx="8312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LLM 推理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2667000" y="19050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rgbClr val="3B82F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914669" y="17125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3B82F6"/>
                  </a:solidFill>
                  <a:latin typeface="Calibri"/>
                  <a:ea typeface="Calibri"/>
                  <a:cs typeface="Calibri"/>
                </a:rPr>
                <a:t>→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238500" y="1619250"/>
              <a:ext cx="1714500" cy="571500"/>
            </a:xfrm>
            <a:prstGeom prst="roundRect">
              <a:avLst>
                <a:gd name="adj" fmla="val 16667"/>
              </a:avLst>
            </a:prstGeom>
            <a:solidFill>
              <a:srgbClr val="172554"/>
            </a:solidFill>
            <a:ln w="14288">
              <a:solidFill>
                <a:srgbClr val="06B6D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725418" y="18164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工具调用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4953000" y="19050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rgbClr val="06B6D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00669" y="17125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06B6D4"/>
                  </a:solidFill>
                  <a:latin typeface="Calibri"/>
                  <a:ea typeface="Calibri"/>
                  <a:cs typeface="Calibri"/>
                </a:rPr>
                <a:t>→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524500" y="1619250"/>
              <a:ext cx="1714500" cy="571500"/>
            </a:xfrm>
            <a:prstGeom prst="roundRect">
              <a:avLst>
                <a:gd name="adj" fmla="val 16667"/>
              </a:avLst>
            </a:prstGeom>
            <a:solidFill>
              <a:srgbClr val="172554"/>
            </a:solidFill>
            <a:ln w="14288">
              <a:solidFill>
                <a:srgbClr val="22D3EE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011418" y="18164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观察结果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952500" y="2190750"/>
              <a:ext cx="5429250" cy="666750"/>
            </a:xfrm>
            <a:custGeom>
              <a:avLst/>
              <a:gdLst/>
              <a:ahLst/>
              <a:cxnLst/>
              <a:rect l="l" t="t" r="r" b="b"/>
              <a:pathLst>
                <a:path w="5429250" h="666750">
                  <a:moveTo>
                    <a:pt x="5429250" y="0"/>
                  </a:moveTo>
                  <a:cubicBezTo>
                    <a:pt x="5429250" y="444500"/>
                    <a:pt x="3905250" y="666750"/>
                    <a:pt x="857250" y="666750"/>
                  </a:cubicBezTo>
                  <a:cubicBezTo>
                    <a:pt x="285750" y="666750"/>
                    <a:pt x="0" y="444500"/>
                    <a:pt x="0" y="0"/>
                  </a:cubicBezTo>
                </a:path>
              </a:pathLst>
            </a:custGeom>
            <a:noFill/>
            <a:ln w="14288">
              <a:solidFill>
                <a:srgbClr val="94A3B8"/>
              </a:solidFill>
              <a:prstDash val="lgDash"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299336" y="2934652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继续推理 / 结束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6166" y="3410902"/>
              <a:ext cx="24494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底层：LangGraph StateGraph 状态机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6166" y="3601402"/>
              <a:ext cx="21338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LLM 节点 ↔ Tool 节点，条件路由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63118" y="4108132"/>
            <a:ext cx="11057382" cy="1940243"/>
            <a:chOff x="563118" y="4108132"/>
            <a:chExt cx="11057382" cy="1940243"/>
          </a:xfrm>
        </p:grpSpPr>
        <p:sp>
          <p:nvSpPr>
            <p:cNvPr id="21" name="TextBox 21"/>
            <p:cNvSpPr txBox="1"/>
            <p:nvPr/>
          </p:nvSpPr>
          <p:spPr>
            <a:xfrm>
              <a:off x="563118" y="41081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三个关键设计决策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71500" y="4524375"/>
              <a:ext cx="3524250" cy="1524000"/>
            </a:xfrm>
            <a:prstGeom prst="roundRect">
              <a:avLst>
                <a:gd name="adj" fmla="val 6250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55142" y="4664392"/>
              <a:ext cx="8731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B82F6"/>
                  </a:solidFill>
                  <a:latin typeface="Calibri"/>
                  <a:ea typeface="Calibri"/>
                  <a:cs typeface="Calibri"/>
                </a:rPr>
                <a:t>ChatAIGW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6285" y="4974431"/>
              <a:ext cx="1968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继承 LangChain ChatOpenAI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6285" y="5212556"/>
              <a:ext cx="9274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调 AIGW 网关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6285" y="5450681"/>
              <a:ext cx="15181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默认 streaming=True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6666" y="5696902"/>
              <a:ext cx="10184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Token 逐个流回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333875" y="4524375"/>
              <a:ext cx="3524250" cy="1524000"/>
            </a:xfrm>
            <a:prstGeom prst="roundRect">
              <a:avLst>
                <a:gd name="adj" fmla="val 6250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517517" y="4664392"/>
              <a:ext cx="1614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6B6D4"/>
                  </a:solidFill>
                  <a:latin typeface="Calibri"/>
                  <a:ea typeface="Calibri"/>
                  <a:cs typeface="Calibri"/>
                </a:rPr>
                <a:t>AsyncSqliteSaver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18660" y="4974431"/>
              <a:ext cx="13217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异步 Checkpointer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18660" y="5212556"/>
              <a:ext cx="18021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对话状态持久化到 SQLite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18660" y="545068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异步版：不阻塞事件循环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19041" y="569690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单用户场景无需分布式存储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096250" y="4524375"/>
              <a:ext cx="3524250" cy="1524000"/>
            </a:xfrm>
            <a:prstGeom prst="roundRect">
              <a:avLst>
                <a:gd name="adj" fmla="val 6250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279892" y="4664392"/>
              <a:ext cx="19601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2D3EE"/>
                  </a:solidFill>
                  <a:latin typeface="Calibri"/>
                  <a:ea typeface="Calibri"/>
                  <a:cs typeface="Calibri"/>
                </a:rPr>
                <a:t>recursion_limit=9999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81035" y="497443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实质不限制递归深度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81035" y="5212556"/>
              <a:ext cx="15438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Agent 有两道安全阀：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81035" y="5450681"/>
              <a:ext cx="823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① HITL 审批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81035" y="5688806"/>
              <a:ext cx="911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② Token 预算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7784" y="356235"/>
            <a:ext cx="4787124" cy="528066"/>
            <a:chOff x="557784" y="356235"/>
            <a:chExt cx="4787124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557784" y="356235"/>
              <a:ext cx="478712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asyncio 事件循环与协程调度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781050"/>
              <a:ext cx="1143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B82F6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63880" y="1171575"/>
            <a:ext cx="6675120" cy="2162175"/>
            <a:chOff x="563880" y="1171575"/>
            <a:chExt cx="6675120" cy="2162175"/>
          </a:xfrm>
        </p:grpSpPr>
        <p:sp>
          <p:nvSpPr>
            <p:cNvPr id="5" name="TextBox 5"/>
            <p:cNvSpPr txBox="1"/>
            <p:nvPr/>
          </p:nvSpPr>
          <p:spPr>
            <a:xfrm>
              <a:off x="563880" y="11715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B82F6"/>
                  </a:solidFill>
                  <a:latin typeface="Calibri"/>
                  <a:ea typeface="Microsoft YaHei"/>
                  <a:cs typeface="Calibri"/>
                </a:rPr>
                <a:t>单线程事件循环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524000"/>
              <a:ext cx="6667500" cy="1809750"/>
            </a:xfrm>
            <a:prstGeom prst="roundRect">
              <a:avLst>
                <a:gd name="adj" fmla="val 6316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5904" y="1727835"/>
              <a:ext cx="14514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1F5F9"/>
                  </a:solidFill>
                  <a:latin typeface="Calibri"/>
                  <a:ea typeface="Calibri"/>
                  <a:cs typeface="Calibri"/>
                </a:rPr>
                <a:t>FastAPI + uvicorn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6666" y="1982152"/>
              <a:ext cx="28800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一个线程 · 一个事件循环 · 所有请求都是协程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952500" y="2286000"/>
              <a:ext cx="1905000" cy="381000"/>
            </a:xfrm>
            <a:prstGeom prst="roundRect">
              <a:avLst>
                <a:gd name="adj" fmla="val 15000"/>
              </a:avLst>
            </a:prstGeom>
            <a:solidFill>
              <a:srgbClr val="172554"/>
            </a:solidFill>
            <a:ln w="9525">
              <a:solidFill>
                <a:srgbClr val="3B82F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74254" y="2420302"/>
              <a:ext cx="12614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B82F6"/>
                  </a:solidFill>
                  <a:latin typeface="Calibri"/>
                  <a:ea typeface="Microsoft YaHei"/>
                  <a:cs typeface="Calibri"/>
                </a:rPr>
                <a:t>会话 A: /chat 协程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048000" y="2286000"/>
              <a:ext cx="1905000" cy="381000"/>
            </a:xfrm>
            <a:prstGeom prst="roundRect">
              <a:avLst>
                <a:gd name="adj" fmla="val 15000"/>
              </a:avLst>
            </a:prstGeom>
            <a:solidFill>
              <a:srgbClr val="172554"/>
            </a:solidFill>
            <a:ln w="9525">
              <a:solidFill>
                <a:srgbClr val="06B6D4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369754" y="2420302"/>
              <a:ext cx="12614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会话 B: /chat 协程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143500" y="2286000"/>
              <a:ext cx="1905000" cy="381000"/>
            </a:xfrm>
            <a:prstGeom prst="roundRect">
              <a:avLst>
                <a:gd name="adj" fmla="val 15000"/>
              </a:avLst>
            </a:prstGeom>
            <a:solidFill>
              <a:srgbClr val="172554"/>
            </a:solidFill>
            <a:ln w="9525">
              <a:solidFill>
                <a:srgbClr val="22D3EE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538502" y="2420302"/>
              <a:ext cx="11149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会话 C: /resume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6666" y="2934652"/>
              <a:ext cx="34454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同一 session 不并发：入口先 _cancel_existing_chat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63880" y="3838575"/>
            <a:ext cx="3303164" cy="1048131"/>
            <a:chOff x="563880" y="3838575"/>
            <a:chExt cx="3303164" cy="1048131"/>
          </a:xfrm>
        </p:grpSpPr>
        <p:sp>
          <p:nvSpPr>
            <p:cNvPr id="17" name="TextBox 17"/>
            <p:cNvSpPr txBox="1"/>
            <p:nvPr/>
          </p:nvSpPr>
          <p:spPr>
            <a:xfrm>
              <a:off x="563880" y="3838575"/>
              <a:ext cx="18411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await = 协程挂起点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5404" y="4156710"/>
              <a:ext cx="33016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A 在 await ChatAIGW._astream() 等 token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5404" y="4404360"/>
              <a:ext cx="27090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→ 事件循环发现 B 的 HTTP 响应到了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5404" y="4652010"/>
              <a:ext cx="278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→ 切去跑 B，A 的 token 到了再切回来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5143500"/>
            <a:ext cx="11049000" cy="1238250"/>
            <a:chOff x="571500" y="5143500"/>
            <a:chExt cx="11049000" cy="1238250"/>
          </a:xfrm>
        </p:grpSpPr>
        <p:sp>
          <p:nvSpPr>
            <p:cNvPr id="22" name="Rectangle 22"/>
            <p:cNvSpPr/>
            <p:nvPr/>
          </p:nvSpPr>
          <p:spPr>
            <a:xfrm>
              <a:off x="571500" y="5143500"/>
              <a:ext cx="11049000" cy="1238250"/>
            </a:xfrm>
            <a:prstGeom prst="roundRect">
              <a:avLst>
                <a:gd name="adj" fmla="val 9231"/>
              </a:avLst>
            </a:prstGeom>
            <a:solidFill>
              <a:srgbClr val="7F1D1D">
                <a:alpha val="30000"/>
              </a:srgbClr>
            </a:solidFill>
            <a:ln w="9525">
              <a:solidFill>
                <a:srgbClr val="EF444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53618" y="5298758"/>
              <a:ext cx="40610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F4444"/>
                  </a:solidFill>
                  <a:latin typeface="Calibri"/>
                  <a:ea typeface="Microsoft YaHei"/>
                  <a:cs typeface="Calibri"/>
                </a:rPr>
                <a:t>核心原则：任何同步阻塞 = 冻住整个服务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5904" y="5680710"/>
              <a:ext cx="4955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CA5A5"/>
                  </a:solidFill>
                  <a:latin typeface="Calibri"/>
                  <a:ea typeface="Microsoft YaHei"/>
                  <a:cs typeface="Calibri"/>
                </a:rPr>
                <a:t>❌ time.sleep() / requests.get() → 事件循环停转，所有请求卡住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5904" y="5966460"/>
              <a:ext cx="44239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6EFAC"/>
                  </a:solidFill>
                  <a:latin typeface="Calibri"/>
                  <a:ea typeface="Microsoft YaHei"/>
                  <a:cs typeface="Calibri"/>
                </a:rPr>
                <a:t>✓ asyncio.sleep() / httpx.AsyncClient → 只挂起当前协程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612380" y="1171575"/>
            <a:ext cx="4008120" cy="2162175"/>
            <a:chOff x="7612380" y="1171575"/>
            <a:chExt cx="4008120" cy="2162175"/>
          </a:xfrm>
        </p:grpSpPr>
        <p:sp>
          <p:nvSpPr>
            <p:cNvPr id="27" name="TextBox 27"/>
            <p:cNvSpPr txBox="1"/>
            <p:nvPr/>
          </p:nvSpPr>
          <p:spPr>
            <a:xfrm>
              <a:off x="7612380" y="11715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异步替代方案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620000" y="1524000"/>
              <a:ext cx="4000500" cy="1809750"/>
            </a:xfrm>
            <a:prstGeom prst="roundRect">
              <a:avLst>
                <a:gd name="adj" fmla="val 5263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804404" y="1727835"/>
              <a:ext cx="23485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EF4444"/>
                  </a:solidFill>
                  <a:latin typeface="Calibri"/>
                  <a:ea typeface="Calibri"/>
                  <a:cs typeface="Calibri"/>
                </a:rPr>
                <a:t xml:space="preserve">requests → </a:t>
              </a:r>
              <a:r>
                <a:rPr lang="en-US" sz="1200" dirty="0">
                  <a:solidFill>
                    <a:srgbClr val="86EFAC"/>
                  </a:solidFill>
                  <a:latin typeface="Calibri"/>
                  <a:ea typeface="Calibri"/>
                  <a:cs typeface="Calibri"/>
                </a:rPr>
                <a:t>httpx.AsyncClient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04404" y="2013585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EF4444"/>
                  </a:solidFill>
                  <a:latin typeface="Calibri"/>
                  <a:ea typeface="Calibri"/>
                  <a:cs typeface="Calibri"/>
                </a:rPr>
                <a:t xml:space="preserve">time.sleep → </a:t>
              </a:r>
              <a:r>
                <a:rPr lang="en-US" sz="1200" dirty="0">
                  <a:solidFill>
                    <a:srgbClr val="86EFAC"/>
                  </a:solidFill>
                  <a:latin typeface="Calibri"/>
                  <a:ea typeface="Calibri"/>
                  <a:cs typeface="Calibri"/>
                </a:rPr>
                <a:t>asyncio.sleep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04404" y="2299335"/>
              <a:ext cx="22011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EF4444"/>
                  </a:solidFill>
                  <a:latin typeface="Calibri"/>
                  <a:ea typeface="Calibri"/>
                  <a:cs typeface="Calibri"/>
                </a:rPr>
                <a:t xml:space="preserve">invoke → </a:t>
              </a:r>
              <a:r>
                <a:rPr lang="en-US" sz="1200" dirty="0">
                  <a:solidFill>
                    <a:srgbClr val="86EFAC"/>
                  </a:solidFill>
                  <a:latin typeface="Calibri"/>
                  <a:ea typeface="Calibri"/>
                  <a:cs typeface="Calibri"/>
                </a:rPr>
                <a:t>ainvoke / _astream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04404" y="2585085"/>
              <a:ext cx="24607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EF4444"/>
                  </a:solidFill>
                  <a:latin typeface="Calibri"/>
                  <a:ea typeface="Calibri"/>
                  <a:cs typeface="Calibri"/>
                </a:rPr>
                <a:t xml:space="preserve">SqliteSaver → </a:t>
              </a:r>
              <a:r>
                <a:rPr lang="en-US" sz="1200" dirty="0">
                  <a:solidFill>
                    <a:srgbClr val="86EFAC"/>
                  </a:solidFill>
                  <a:latin typeface="Calibri"/>
                  <a:ea typeface="Calibri"/>
                  <a:cs typeface="Calibri"/>
                </a:rPr>
                <a:t>AsyncSqliteSaver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05166" y="2934652"/>
              <a:ext cx="18327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所有 I/O 操作使用异步版本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7784" y="356235"/>
            <a:ext cx="5826145" cy="528066"/>
            <a:chOff x="557784" y="356235"/>
            <a:chExt cx="5826145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557784" y="356235"/>
              <a:ext cx="582614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ContextVar：跨框架传递画布数据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781050"/>
              <a:ext cx="1143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B82F6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71500" y="1047750"/>
            <a:ext cx="5143500" cy="1238250"/>
            <a:chOff x="571500" y="1047750"/>
            <a:chExt cx="5143500" cy="1238250"/>
          </a:xfrm>
        </p:grpSpPr>
        <p:sp>
          <p:nvSpPr>
            <p:cNvPr id="5" name="Rectangle 5"/>
            <p:cNvSpPr/>
            <p:nvPr/>
          </p:nvSpPr>
          <p:spPr>
            <a:xfrm>
              <a:off x="571500" y="1047750"/>
              <a:ext cx="5143500" cy="1238250"/>
            </a:xfrm>
            <a:prstGeom prst="roundRect">
              <a:avLst>
                <a:gd name="adj" fmla="val 7692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4380" y="11906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F4444"/>
                  </a:solidFill>
                  <a:latin typeface="Calibri"/>
                  <a:ea typeface="Microsoft YaHei"/>
                  <a:cs typeface="Calibri"/>
                </a:rPr>
                <a:t>问题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5904" y="1508760"/>
              <a:ext cx="2904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调用链很深：routes → StreamAdapter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5904" y="1737360"/>
              <a:ext cx="31398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→ LangGraph → ChatAIGW → inject_canvas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5904" y="196596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59E0B"/>
                  </a:solidFill>
                  <a:latin typeface="Calibri"/>
                  <a:ea typeface="Microsoft YaHei"/>
                  <a:cs typeface="Calibri"/>
                </a:rPr>
                <a:t>中间隔着框架代码，改不了函数签名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000750" y="1047750"/>
            <a:ext cx="5619750" cy="1238250"/>
            <a:chOff x="6000750" y="1047750"/>
            <a:chExt cx="5619750" cy="1238250"/>
          </a:xfrm>
        </p:grpSpPr>
        <p:sp>
          <p:nvSpPr>
            <p:cNvPr id="11" name="Rectangle 11"/>
            <p:cNvSpPr/>
            <p:nvPr/>
          </p:nvSpPr>
          <p:spPr>
            <a:xfrm>
              <a:off x="6000750" y="1047750"/>
              <a:ext cx="5619750" cy="1238250"/>
            </a:xfrm>
            <a:prstGeom prst="roundRect">
              <a:avLst>
                <a:gd name="adj" fmla="val 7692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183630" y="1190625"/>
              <a:ext cx="18072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解法：ContextVar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185154" y="1508760"/>
              <a:ext cx="21111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Python 标准库 contextvars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185154" y="1737360"/>
              <a:ext cx="26252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协程局部变量 — 每个 Task 独立一份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185154" y="1965960"/>
              <a:ext cx="26130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入口 set()，深层 get()，互不干扰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63880" y="2600325"/>
            <a:ext cx="11056620" cy="2066925"/>
            <a:chOff x="563880" y="2600325"/>
            <a:chExt cx="11056620" cy="2066925"/>
          </a:xfrm>
        </p:grpSpPr>
        <p:sp>
          <p:nvSpPr>
            <p:cNvPr id="17" name="TextBox 17"/>
            <p:cNvSpPr txBox="1"/>
            <p:nvPr/>
          </p:nvSpPr>
          <p:spPr>
            <a:xfrm>
              <a:off x="563880" y="26003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B82F6"/>
                  </a:solidFill>
                  <a:latin typeface="Calibri"/>
                  <a:ea typeface="Microsoft YaHei"/>
                  <a:cs typeface="Calibri"/>
                </a:rPr>
                <a:t>数据流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1500" y="2952750"/>
              <a:ext cx="2095500" cy="571500"/>
            </a:xfrm>
            <a:prstGeom prst="roundRect">
              <a:avLst>
                <a:gd name="adj" fmla="val 13333"/>
              </a:avLst>
            </a:prstGeom>
            <a:solidFill>
              <a:srgbClr val="172554"/>
            </a:solidFill>
            <a:ln w="14288">
              <a:solidFill>
                <a:srgbClr val="3B82F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92938" y="31661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/chat 入口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2667000" y="32385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3B82F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048000" y="2952750"/>
              <a:ext cx="2476500" cy="571500"/>
            </a:xfrm>
            <a:prstGeom prst="roundRect">
              <a:avLst>
                <a:gd name="adj" fmla="val 13333"/>
              </a:avLst>
            </a:prstGeom>
            <a:solidFill>
              <a:srgbClr val="172554"/>
            </a:solidFill>
            <a:ln w="14288">
              <a:solidFill>
                <a:srgbClr val="06B6D4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413582" y="3078956"/>
              <a:ext cx="17453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06B6D4"/>
                  </a:solidFill>
                  <a:latin typeface="Calibri"/>
                  <a:ea typeface="Calibri"/>
                  <a:cs typeface="Calibri"/>
                </a:rPr>
                <a:t>_prime_canvas_context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18836" y="3304699"/>
              <a:ext cx="17348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HTTP GET → set ContextVar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5524500" y="32385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06B6D4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905500" y="2952750"/>
              <a:ext cx="2476500" cy="571500"/>
            </a:xfrm>
            <a:prstGeom prst="roundRect">
              <a:avLst>
                <a:gd name="adj" fmla="val 13333"/>
              </a:avLst>
            </a:prstGeom>
            <a:solidFill>
              <a:srgbClr val="172554"/>
            </a:solidFill>
            <a:ln w="14288">
              <a:solidFill>
                <a:srgbClr val="22D3EE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01587" y="3078956"/>
              <a:ext cx="14843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Agent 多轮 LLM 调用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90108" y="3304699"/>
              <a:ext cx="15072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每次 get() 读同一份缓存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8382000" y="32385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8763000" y="2952750"/>
              <a:ext cx="2476500" cy="571500"/>
            </a:xfrm>
            <a:prstGeom prst="roundRect">
              <a:avLst>
                <a:gd name="adj" fmla="val 13333"/>
              </a:avLst>
            </a:prstGeom>
            <a:solidFill>
              <a:srgbClr val="172554"/>
            </a:solidFill>
            <a:ln w="14288">
              <a:solidFill>
                <a:srgbClr val="F59E0B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200200" y="3078956"/>
              <a:ext cx="16021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59E0B"/>
                  </a:solidFill>
                  <a:latin typeface="Calibri"/>
                  <a:ea typeface="Microsoft YaHei"/>
                  <a:cs typeface="Calibri"/>
                </a:rPr>
                <a:t>canvas_subgraph 工具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399325" y="3304699"/>
              <a:ext cx="12038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get() 复用入口数据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66166" y="3887152"/>
              <a:ext cx="62291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两个 ContextVar：_canvas_overview_text（Markdown 摘要）、_canvas_detail（原始 dict）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71500" y="4191000"/>
              <a:ext cx="11049000" cy="476250"/>
            </a:xfrm>
            <a:prstGeom prst="roundRect">
              <a:avLst>
                <a:gd name="adj" fmla="val 16000"/>
              </a:avLst>
            </a:prstGeom>
            <a:solidFill>
              <a:srgbClr val="172554">
                <a:alpha val="50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444507" y="4366260"/>
              <a:ext cx="53029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只拉一次画布数据，同一个 /chat 请求内所有调用复用，避免重复 HTTP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71500" y="4953000"/>
            <a:ext cx="11049000" cy="1333500"/>
            <a:chOff x="571500" y="4953000"/>
            <a:chExt cx="11049000" cy="1333500"/>
          </a:xfrm>
        </p:grpSpPr>
        <p:sp>
          <p:nvSpPr>
            <p:cNvPr id="36" name="Rectangle 36"/>
            <p:cNvSpPr/>
            <p:nvPr/>
          </p:nvSpPr>
          <p:spPr>
            <a:xfrm>
              <a:off x="571500" y="4953000"/>
              <a:ext cx="5334000" cy="1333500"/>
            </a:xfrm>
            <a:prstGeom prst="roundRect">
              <a:avLst>
                <a:gd name="adj" fmla="val 7143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54380" y="512445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B82F6"/>
                  </a:solidFill>
                  <a:latin typeface="Calibri"/>
                  <a:ea typeface="Microsoft YaHei"/>
                  <a:cs typeface="Calibri"/>
                </a:rPr>
                <a:t>价值一：免传参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5904" y="5442585"/>
              <a:ext cx="14741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深层代码直接 get()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5904" y="5680710"/>
              <a:ext cx="25557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不改 LangGraph 框架任何函数签名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6666" y="5935028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解耦框架代码和业务逻辑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191250" y="4953000"/>
              <a:ext cx="5429250" cy="1333500"/>
            </a:xfrm>
            <a:prstGeom prst="roundRect">
              <a:avLst>
                <a:gd name="adj" fmla="val 7143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74130" y="512445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价值二：请求内缓存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375654" y="544258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入口拉一次画布数据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75654" y="5680710"/>
              <a:ext cx="23079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多次 LLM 调用和工具调用复用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376416" y="5935028"/>
              <a:ext cx="23435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每个 Task 独立，会话 A/B 互不干扰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7784" y="356235"/>
            <a:ext cx="6180395" cy="528066"/>
            <a:chOff x="557784" y="356235"/>
            <a:chExt cx="6180395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557784" y="356235"/>
              <a:ext cx="618039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Message/Block 双层模型与事件翻译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781050"/>
              <a:ext cx="1143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B82F6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563118" y="1155382"/>
            <a:ext cx="5151882" cy="2464118"/>
            <a:chOff x="563118" y="1155382"/>
            <a:chExt cx="5151882" cy="2464118"/>
          </a:xfrm>
        </p:grpSpPr>
        <p:sp>
          <p:nvSpPr>
            <p:cNvPr id="5" name="TextBox 5"/>
            <p:cNvSpPr txBox="1"/>
            <p:nvPr/>
          </p:nvSpPr>
          <p:spPr>
            <a:xfrm>
              <a:off x="563118" y="11553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B82F6"/>
                  </a:solidFill>
                  <a:latin typeface="Calibri"/>
                  <a:ea typeface="Microsoft YaHei"/>
                  <a:cs typeface="Calibri"/>
                </a:rPr>
                <a:t>双层数据结构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524000"/>
              <a:ext cx="5143500" cy="2095500"/>
            </a:xfrm>
            <a:prstGeom prst="roundRect">
              <a:avLst>
                <a:gd name="adj" fmla="val 5455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666875"/>
              <a:ext cx="4762500" cy="476250"/>
            </a:xfrm>
            <a:prstGeom prst="roundRect">
              <a:avLst>
                <a:gd name="adj" fmla="val 16000"/>
              </a:avLst>
            </a:prstGeom>
            <a:solidFill>
              <a:srgbClr val="172554"/>
            </a:solidFill>
            <a:ln w="14288">
              <a:solidFill>
                <a:srgbClr val="3B82F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014023" y="1816418"/>
              <a:ext cx="22584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Message（一轮回复容器）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9541" y="2267902"/>
              <a:ext cx="5195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blocks: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238250" y="2266950"/>
              <a:ext cx="1238250" cy="304800"/>
            </a:xfrm>
            <a:prstGeom prst="roundRect">
              <a:avLst>
                <a:gd name="adj" fmla="val 18750"/>
              </a:avLst>
            </a:prstGeom>
            <a:solidFill>
              <a:srgbClr val="0F172A"/>
            </a:solidFill>
            <a:ln w="9525">
              <a:solidFill>
                <a:srgbClr val="3B82F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38492" y="2371249"/>
              <a:ext cx="6377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3B82F6"/>
                  </a:solidFill>
                  <a:latin typeface="Calibri"/>
                  <a:ea typeface="Calibri"/>
                  <a:cs typeface="Calibri"/>
                </a:rPr>
                <a:t>TextBlock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571750" y="2266950"/>
              <a:ext cx="1238250" cy="304800"/>
            </a:xfrm>
            <a:prstGeom prst="roundRect">
              <a:avLst>
                <a:gd name="adj" fmla="val 18750"/>
              </a:avLst>
            </a:prstGeom>
            <a:solidFill>
              <a:srgbClr val="0F172A"/>
            </a:solidFill>
            <a:ln w="9525">
              <a:solidFill>
                <a:srgbClr val="06B6D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777849" y="2371249"/>
              <a:ext cx="8260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06B6D4"/>
                  </a:solidFill>
                  <a:latin typeface="Calibri"/>
                  <a:ea typeface="Calibri"/>
                  <a:cs typeface="Calibri"/>
                </a:rPr>
                <a:t>ToolUseBlock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905250" y="2266950"/>
              <a:ext cx="1238250" cy="304800"/>
            </a:xfrm>
            <a:prstGeom prst="roundRect">
              <a:avLst>
                <a:gd name="adj" fmla="val 18750"/>
              </a:avLst>
            </a:prstGeom>
            <a:solidFill>
              <a:srgbClr val="0F172A"/>
            </a:solidFill>
            <a:ln w="9525">
              <a:solidFill>
                <a:srgbClr val="22D3EE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172527" y="2371249"/>
              <a:ext cx="7036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22D3EE"/>
                  </a:solidFill>
                  <a:latin typeface="Calibri"/>
                  <a:ea typeface="Calibri"/>
                  <a:cs typeface="Calibri"/>
                </a:rPr>
                <a:t>ImageBlock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99541" y="2744152"/>
              <a:ext cx="22944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每个 Block 有独立 block_id 和 type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99541" y="2972752"/>
              <a:ext cx="19613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前端按 type 字段做差异化渲染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99541" y="3201352"/>
              <a:ext cx="13115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支持六种 Block 类型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992368" y="1155382"/>
            <a:ext cx="5628132" cy="2416493"/>
            <a:chOff x="5992368" y="1155382"/>
            <a:chExt cx="5628132" cy="2416493"/>
          </a:xfrm>
        </p:grpSpPr>
        <p:sp>
          <p:nvSpPr>
            <p:cNvPr id="20" name="TextBox 20"/>
            <p:cNvSpPr txBox="1"/>
            <p:nvPr/>
          </p:nvSpPr>
          <p:spPr>
            <a:xfrm>
              <a:off x="5992368" y="1155382"/>
              <a:ext cx="19054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SSE 事件生命周期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000750" y="1571625"/>
              <a:ext cx="5619750" cy="571500"/>
            </a:xfrm>
            <a:prstGeom prst="roundRect">
              <a:avLst>
                <a:gd name="adj" fmla="val 13333"/>
              </a:avLst>
            </a:prstGeom>
            <a:solidFill>
              <a:srgbClr val="172554"/>
            </a:solidFill>
            <a:ln w="14288">
              <a:solidFill>
                <a:srgbClr val="3B82F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79642" y="1683068"/>
              <a:ext cx="1330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B82F6"/>
                  </a:solidFill>
                  <a:latin typeface="Calibri"/>
                  <a:ea typeface="Calibri"/>
                  <a:cs typeface="Calibri"/>
                </a:rPr>
                <a:t>block.created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85785" y="1707356"/>
              <a:ext cx="1246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创建空 Block 容器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000750" y="2286000"/>
              <a:ext cx="5619750" cy="571500"/>
            </a:xfrm>
            <a:prstGeom prst="roundRect">
              <a:avLst>
                <a:gd name="adj" fmla="val 13333"/>
              </a:avLst>
            </a:prstGeom>
            <a:solidFill>
              <a:srgbClr val="172554"/>
            </a:solidFill>
            <a:ln w="14288">
              <a:solidFill>
                <a:srgbClr val="06B6D4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79642" y="2397442"/>
              <a:ext cx="10727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6B6D4"/>
                  </a:solidFill>
                  <a:latin typeface="Calibri"/>
                  <a:ea typeface="Calibri"/>
                  <a:cs typeface="Calibri"/>
                </a:rPr>
                <a:t>block.delta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85785" y="242173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增量追加（打字机效果）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000750" y="3000375"/>
              <a:ext cx="5619750" cy="571500"/>
            </a:xfrm>
            <a:prstGeom prst="roundRect">
              <a:avLst>
                <a:gd name="adj" fmla="val 13333"/>
              </a:avLst>
            </a:prstGeom>
            <a:solidFill>
              <a:srgbClr val="172554"/>
            </a:solidFill>
            <a:ln w="14288">
              <a:solidFill>
                <a:srgbClr val="22D3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279642" y="3111818"/>
              <a:ext cx="1330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2D3EE"/>
                  </a:solidFill>
                  <a:latin typeface="Calibri"/>
                  <a:ea typeface="Calibri"/>
                  <a:cs typeface="Calibri"/>
                </a:rPr>
                <a:t>block.updated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85785" y="31361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更新完整状态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63118" y="4108132"/>
            <a:ext cx="11057382" cy="2035493"/>
            <a:chOff x="563118" y="4108132"/>
            <a:chExt cx="11057382" cy="2035493"/>
          </a:xfrm>
        </p:grpSpPr>
        <p:sp>
          <p:nvSpPr>
            <p:cNvPr id="31" name="TextBox 31"/>
            <p:cNvSpPr txBox="1"/>
            <p:nvPr/>
          </p:nvSpPr>
          <p:spPr>
            <a:xfrm>
              <a:off x="563118" y="4108132"/>
              <a:ext cx="43080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DeepAgentStreamAdapter — 事件翻译层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71500" y="4524375"/>
              <a:ext cx="4381500" cy="1619250"/>
            </a:xfrm>
            <a:prstGeom prst="roundRect">
              <a:avLst>
                <a:gd name="adj" fmla="val 5882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55904" y="4680585"/>
              <a:ext cx="15682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F4444"/>
                  </a:solidFill>
                  <a:latin typeface="Calibri"/>
                  <a:ea typeface="Microsoft YaHei"/>
                  <a:cs typeface="Calibri"/>
                </a:rPr>
                <a:t>LangGraph 内部事件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6285" y="4974431"/>
              <a:ext cx="16925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on_chat_model_stream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6285" y="5193506"/>
              <a:ext cx="10517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on_tool_start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6285" y="5412581"/>
              <a:ext cx="8859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on_tool_end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6666" y="579215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框架私有，前端无法消费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953000" y="5048250"/>
              <a:ext cx="1143000" cy="381000"/>
            </a:xfrm>
            <a:prstGeom prst="roundRect">
              <a:avLst>
                <a:gd name="adj" fmla="val 15000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84771" y="516636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翻译 →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77000" y="4524375"/>
              <a:ext cx="5143500" cy="1619250"/>
            </a:xfrm>
            <a:prstGeom prst="roundRect">
              <a:avLst>
                <a:gd name="adj" fmla="val 5882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61404" y="4680585"/>
              <a:ext cx="10981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前端 SSE 协议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61785" y="4974431"/>
              <a:ext cx="20619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block.created / block.delta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61785" y="5193506"/>
              <a:ext cx="10517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block.updated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61785" y="5412581"/>
              <a:ext cx="27630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interaction.request / canvas.render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62166" y="5792152"/>
              <a:ext cx="28248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框架解耦：换 LangGraph 只需写新 Adapter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7784" y="356235"/>
            <a:ext cx="2571750" cy="528066"/>
            <a:chOff x="557784" y="356235"/>
            <a:chExt cx="2571750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557784" y="356235"/>
              <a:ext cx="257175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分层上下文感知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781050"/>
              <a:ext cx="1143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B82F6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1500" y="1047750"/>
            <a:ext cx="11049000" cy="1524000"/>
            <a:chOff x="571500" y="1047750"/>
            <a:chExt cx="11049000" cy="1524000"/>
          </a:xfrm>
        </p:grpSpPr>
        <p:sp>
          <p:nvSpPr>
            <p:cNvPr id="5" name="Rectangle 5"/>
            <p:cNvSpPr/>
            <p:nvPr/>
          </p:nvSpPr>
          <p:spPr>
            <a:xfrm>
              <a:off x="571500" y="1047750"/>
              <a:ext cx="11049000" cy="1524000"/>
            </a:xfrm>
            <a:prstGeom prst="roundRect">
              <a:avLst>
                <a:gd name="adj" fmla="val 7500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762000" y="1190625"/>
              <a:ext cx="762000" cy="285750"/>
            </a:xfrm>
            <a:prstGeom prst="roundRect">
              <a:avLst>
                <a:gd name="adj" fmla="val 20000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25639" y="127730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第一层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06118" y="12125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画布概览（入口层注入）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6404" y="1584960"/>
              <a:ext cx="38913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每次 /chat 请求拉画布详情 → 渲染成 Markdown 摘要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6404" y="1832610"/>
              <a:ext cx="56332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通过 ContextVar 缓存，inject_canvas_overview() 注入到每次 LLM 调用前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6404" y="2156460"/>
              <a:ext cx="43049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LLM 能看到画布全貌，但不会把全量节点信息塞满上下文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1500" y="2762250"/>
            <a:ext cx="11049000" cy="1333500"/>
            <a:chOff x="571500" y="2762250"/>
            <a:chExt cx="11049000" cy="1333500"/>
          </a:xfrm>
        </p:grpSpPr>
        <p:sp>
          <p:nvSpPr>
            <p:cNvPr id="13" name="Rectangle 13"/>
            <p:cNvSpPr/>
            <p:nvPr/>
          </p:nvSpPr>
          <p:spPr>
            <a:xfrm>
              <a:off x="571500" y="2762250"/>
              <a:ext cx="11049000" cy="1333500"/>
            </a:xfrm>
            <a:prstGeom prst="roundRect">
              <a:avLst>
                <a:gd name="adj" fmla="val 8571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62000" y="2905125"/>
              <a:ext cx="762000" cy="285750"/>
            </a:xfrm>
            <a:prstGeom prst="roundRect">
              <a:avLst>
                <a:gd name="adj" fmla="val 2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5639" y="299180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第二层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06118" y="29270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按需查询（工具检索层）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3299460"/>
              <a:ext cx="34934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canvas_node_detail — 查询某个节点的详细信息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404" y="3547110"/>
              <a:ext cx="24999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canvas_subgraph — 查询子图拓扑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3794760"/>
              <a:ext cx="41386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只有 Agent 判断需要时才调用，避免无关信息占用 token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71500" y="4286250"/>
            <a:ext cx="11049000" cy="2095500"/>
            <a:chOff x="571500" y="4286250"/>
            <a:chExt cx="11049000" cy="2095500"/>
          </a:xfrm>
        </p:grpSpPr>
        <p:sp>
          <p:nvSpPr>
            <p:cNvPr id="21" name="Rectangle 21"/>
            <p:cNvSpPr/>
            <p:nvPr/>
          </p:nvSpPr>
          <p:spPr>
            <a:xfrm>
              <a:off x="571500" y="4286250"/>
              <a:ext cx="11049000" cy="2095500"/>
            </a:xfrm>
            <a:prstGeom prst="roundRect">
              <a:avLst>
                <a:gd name="adj" fmla="val 5455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62000" y="4429125"/>
              <a:ext cx="762000" cy="285750"/>
            </a:xfrm>
            <a:prstGeom prst="roundRect">
              <a:avLst>
                <a:gd name="adj" fmla="val 20000"/>
              </a:avLst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25639" y="451580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1120"/>
                  </a:solidFill>
                  <a:latin typeface="Calibri"/>
                  <a:ea typeface="Microsoft YaHei"/>
                  <a:cs typeface="Calibri"/>
                </a:rPr>
                <a:t>第三层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06118" y="4451032"/>
              <a:ext cx="29825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Token 预算管理（三道防线）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952500" y="4857750"/>
              <a:ext cx="3238500" cy="762000"/>
            </a:xfrm>
            <a:prstGeom prst="roundRect">
              <a:avLst>
                <a:gd name="adj" fmla="val 1000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36904" y="5013960"/>
              <a:ext cx="1007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B82F6"/>
                  </a:solidFill>
                  <a:latin typeface="Calibri"/>
                  <a:ea typeface="Microsoft YaHei"/>
                  <a:cs typeface="Calibri"/>
                </a:rPr>
                <a:t>① Token 预检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37666" y="5268278"/>
              <a:ext cx="13464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tiktoken 编码器计算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37666" y="5439728"/>
              <a:ext cx="13323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即将发送的 token 数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476750" y="4857750"/>
              <a:ext cx="3238500" cy="762000"/>
            </a:xfrm>
            <a:prstGeom prst="roundRect">
              <a:avLst>
                <a:gd name="adj" fmla="val 1000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661154" y="5013960"/>
              <a:ext cx="9640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② 渐进式裁剪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61916" y="526827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从最早历史开始裁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61916" y="543972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优先裁工具调用结果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001000" y="4857750"/>
              <a:ext cx="3238500" cy="762000"/>
            </a:xfrm>
            <a:prstGeom prst="roundRect">
              <a:avLst>
                <a:gd name="adj" fmla="val 1000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185404" y="5013960"/>
              <a:ext cx="12326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③ LLM 摘要压缩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86166" y="5268278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轻量模型压缩裁掉的部分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86166" y="5439728"/>
              <a:ext cx="13110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200-500 token 摘要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46404" y="5966460"/>
              <a:ext cx="53754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59E0B"/>
                  </a:solidFill>
                  <a:latin typeface="Calibri"/>
                  <a:ea typeface="Microsoft YaHei"/>
                  <a:cs typeface="Calibri"/>
                </a:rPr>
                <a:t>目标：防止长对话逼近模型窗口限制（128k）· 保留系统提示词和最近 4 轮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7784" y="356235"/>
            <a:ext cx="3239033" cy="528066"/>
            <a:chOff x="557784" y="356235"/>
            <a:chExt cx="3239033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557784" y="356235"/>
              <a:ext cx="323903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HITL 人机审批流程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781050"/>
              <a:ext cx="1143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B82F6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71500" y="952500"/>
            <a:ext cx="11049000" cy="666750"/>
            <a:chOff x="571500" y="952500"/>
            <a:chExt cx="11049000" cy="666750"/>
          </a:xfrm>
        </p:grpSpPr>
        <p:sp>
          <p:nvSpPr>
            <p:cNvPr id="5" name="Rectangle 5"/>
            <p:cNvSpPr/>
            <p:nvPr/>
          </p:nvSpPr>
          <p:spPr>
            <a:xfrm>
              <a:off x="571500" y="952500"/>
              <a:ext cx="5334000" cy="666750"/>
            </a:xfrm>
            <a:prstGeom prst="roundRect">
              <a:avLst>
                <a:gd name="adj" fmla="val 14286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5904" y="10896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B82F6"/>
                  </a:solidFill>
                  <a:latin typeface="Calibri"/>
                  <a:ea typeface="Microsoft YaHei"/>
                  <a:cs typeface="Calibri"/>
                </a:rPr>
                <a:t>工具级静态配置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6666" y="1334452"/>
              <a:ext cx="29012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execute / write_file / edit_file → 需要审批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191250" y="952500"/>
              <a:ext cx="5429250" cy="666750"/>
            </a:xfrm>
            <a:prstGeom prst="roundRect">
              <a:avLst>
                <a:gd name="adj" fmla="val 14286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375654" y="10896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请求级权限模式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76416" y="1334452"/>
              <a:ext cx="30201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ASK → 按字典审批 · FULL_ACCESS → 全部放行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71500" y="1905000"/>
            <a:ext cx="2667000" cy="1905000"/>
            <a:chOff x="571500" y="1905000"/>
            <a:chExt cx="2667000" cy="1905000"/>
          </a:xfrm>
        </p:grpSpPr>
        <p:sp>
          <p:nvSpPr>
            <p:cNvPr id="12" name="Rectangle 12"/>
            <p:cNvSpPr/>
            <p:nvPr/>
          </p:nvSpPr>
          <p:spPr>
            <a:xfrm>
              <a:off x="571500" y="1905000"/>
              <a:ext cx="2667000" cy="1905000"/>
            </a:xfrm>
            <a:prstGeom prst="roundRect">
              <a:avLst>
                <a:gd name="adj" fmla="val 6000"/>
              </a:avLst>
            </a:prstGeom>
            <a:solidFill>
              <a:srgbClr val="1E293B"/>
            </a:solidFill>
            <a:ln w="14288">
              <a:solidFill>
                <a:srgbClr val="EF4444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762000" y="2047875"/>
              <a:ext cx="342900" cy="228600"/>
            </a:xfrm>
            <a:prstGeom prst="roundRect">
              <a:avLst>
                <a:gd name="adj" fmla="val 16667"/>
              </a:avLst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87301" y="21059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93292" y="20735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F4444"/>
                  </a:solidFill>
                  <a:latin typeface="Calibri"/>
                  <a:ea typeface="Microsoft YaHei"/>
                  <a:cs typeface="Calibri"/>
                </a:rPr>
                <a:t>中断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6666" y="2410778"/>
              <a:ext cx="10483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LangGraph 抛出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6666" y="2601278"/>
              <a:ext cx="13999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GraphInterrupt 异常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6666" y="2887028"/>
              <a:ext cx="11485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自动持久化 state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6666" y="3077528"/>
              <a:ext cx="6720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到 SQLite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7238" y="3427095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异常驱动，非线程挂起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524250" y="1905000"/>
            <a:ext cx="2667000" cy="1905000"/>
            <a:chOff x="3524250" y="1905000"/>
            <a:chExt cx="2667000" cy="1905000"/>
          </a:xfrm>
        </p:grpSpPr>
        <p:sp>
          <p:nvSpPr>
            <p:cNvPr id="22" name="Rectangle 22"/>
            <p:cNvSpPr/>
            <p:nvPr/>
          </p:nvSpPr>
          <p:spPr>
            <a:xfrm>
              <a:off x="3524250" y="1905000"/>
              <a:ext cx="2667000" cy="1905000"/>
            </a:xfrm>
            <a:prstGeom prst="roundRect">
              <a:avLst>
                <a:gd name="adj" fmla="val 6000"/>
              </a:avLst>
            </a:prstGeom>
            <a:solidFill>
              <a:srgbClr val="1E293B"/>
            </a:solidFill>
            <a:ln w="14288">
              <a:solidFill>
                <a:srgbClr val="F59E0B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714750" y="2047875"/>
              <a:ext cx="342900" cy="228600"/>
            </a:xfrm>
            <a:prstGeom prst="roundRect">
              <a:avLst>
                <a:gd name="adj" fmla="val 16667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840051" y="21059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B1120"/>
                  </a:solidFill>
                  <a:latin typeface="Calibri"/>
                  <a:ea typeface="Calibri"/>
                  <a:cs typeface="Calibri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146042" y="20735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9E0B"/>
                  </a:solidFill>
                  <a:latin typeface="Calibri"/>
                  <a:ea typeface="Microsoft YaHei"/>
                  <a:cs typeface="Calibri"/>
                </a:rPr>
                <a:t>推送审批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709416" y="2410778"/>
              <a:ext cx="9441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构造 SSE 事件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709416" y="2601278"/>
              <a:ext cx="14171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F1F5F9"/>
                  </a:solidFill>
                  <a:latin typeface="Calibri"/>
                  <a:ea typeface="Calibri"/>
                  <a:cs typeface="Calibri"/>
                </a:rPr>
                <a:t>interaction.request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709416" y="28870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包含操作名、参数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09416" y="3077528"/>
              <a:ext cx="15301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可选项 approve/reject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709988" y="3427095"/>
              <a:ext cx="12271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批量操作合并为 batch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477000" y="1905000"/>
            <a:ext cx="2667000" cy="1905000"/>
            <a:chOff x="6477000" y="1905000"/>
            <a:chExt cx="2667000" cy="1905000"/>
          </a:xfrm>
        </p:grpSpPr>
        <p:sp>
          <p:nvSpPr>
            <p:cNvPr id="32" name="Rectangle 32"/>
            <p:cNvSpPr/>
            <p:nvPr/>
          </p:nvSpPr>
          <p:spPr>
            <a:xfrm>
              <a:off x="6477000" y="1905000"/>
              <a:ext cx="2667000" cy="1905000"/>
            </a:xfrm>
            <a:prstGeom prst="roundRect">
              <a:avLst>
                <a:gd name="adj" fmla="val 6000"/>
              </a:avLst>
            </a:prstGeom>
            <a:solidFill>
              <a:srgbClr val="1E293B"/>
            </a:solidFill>
            <a:ln w="14288">
              <a:solidFill>
                <a:srgbClr val="3B82F6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667500" y="2047875"/>
              <a:ext cx="342900" cy="228600"/>
            </a:xfrm>
            <a:prstGeom prst="roundRect">
              <a:avLst>
                <a:gd name="adj" fmla="val 16667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92801" y="21059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98792" y="20735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B82F6"/>
                  </a:solidFill>
                  <a:latin typeface="Calibri"/>
                  <a:ea typeface="Microsoft YaHei"/>
                  <a:cs typeface="Calibri"/>
                </a:rPr>
                <a:t>等待决策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62166" y="2410778"/>
              <a:ext cx="1317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创建 asyncio.Event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62166" y="2601278"/>
              <a:ext cx="13605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F1F5F9"/>
                  </a:solidFill>
                  <a:latin typeface="Calibri"/>
                  <a:ea typeface="Calibri"/>
                  <a:cs typeface="Calibri"/>
                </a:rPr>
                <a:t>await event.wait()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62166" y="2887028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超时 300 秒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62166" y="3172778"/>
              <a:ext cx="10632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SSE 连接不断开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62738" y="3427095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前端保持长连接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429750" y="1905000"/>
            <a:ext cx="2286000" cy="1905000"/>
            <a:chOff x="9429750" y="1905000"/>
            <a:chExt cx="2286000" cy="1905000"/>
          </a:xfrm>
        </p:grpSpPr>
        <p:sp>
          <p:nvSpPr>
            <p:cNvPr id="42" name="Rectangle 42"/>
            <p:cNvSpPr/>
            <p:nvPr/>
          </p:nvSpPr>
          <p:spPr>
            <a:xfrm>
              <a:off x="9429750" y="1905000"/>
              <a:ext cx="2286000" cy="1905000"/>
            </a:xfrm>
            <a:prstGeom prst="roundRect">
              <a:avLst>
                <a:gd name="adj" fmla="val 6000"/>
              </a:avLst>
            </a:prstGeom>
            <a:solidFill>
              <a:srgbClr val="1E293B"/>
            </a:solidFill>
            <a:ln w="14288">
              <a:solidFill>
                <a:srgbClr val="22D3EE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9620250" y="2047875"/>
              <a:ext cx="342900" cy="228600"/>
            </a:xfrm>
            <a:prstGeom prst="roundRect">
              <a:avLst>
                <a:gd name="adj" fmla="val 16667"/>
              </a:avLst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745551" y="21059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B1120"/>
                  </a:solidFill>
                  <a:latin typeface="Calibri"/>
                  <a:ea typeface="Calibri"/>
                  <a:cs typeface="Calibri"/>
                </a:rPr>
                <a:t>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051542" y="20735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恢复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614916" y="2410778"/>
              <a:ext cx="986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POST /resume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614916" y="2601278"/>
              <a:ext cx="15793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F1F5F9"/>
                  </a:solidFill>
                  <a:latin typeface="Calibri"/>
                  <a:ea typeface="Calibri"/>
                  <a:cs typeface="Calibri"/>
                </a:rPr>
                <a:t>Command(resume=...)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614916" y="2887028"/>
              <a:ext cx="12616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从 checkpoint 恢复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614916" y="307752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状态机继续执行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615488" y="3427095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重新执行节点函数</a:t>
              </a:r>
            </a:p>
          </p:txBody>
        </p:sp>
      </p:grpSp>
      <p:sp>
        <p:nvSpPr>
          <p:cNvPr id="52" name="Line 52"/>
          <p:cNvSpPr/>
          <p:nvPr/>
        </p:nvSpPr>
        <p:spPr>
          <a:xfrm>
            <a:off x="3238500" y="2857500"/>
            <a:ext cx="285750" cy="9525"/>
          </a:xfrm>
          <a:custGeom>
            <a:avLst/>
            <a:gdLst/>
            <a:ahLst/>
            <a:cxnLst/>
            <a:rect l="l" t="t" r="r" b="b"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4288">
            <a:solidFill>
              <a:srgbClr val="94A3B8"/>
            </a:solidFill>
          </a:ln>
        </p:spPr>
      </p:sp>
      <p:sp>
        <p:nvSpPr>
          <p:cNvPr id="53" name="Line 53"/>
          <p:cNvSpPr/>
          <p:nvPr/>
        </p:nvSpPr>
        <p:spPr>
          <a:xfrm>
            <a:off x="6191250" y="2857500"/>
            <a:ext cx="285750" cy="9525"/>
          </a:xfrm>
          <a:custGeom>
            <a:avLst/>
            <a:gdLst/>
            <a:ahLst/>
            <a:cxnLst/>
            <a:rect l="l" t="t" r="r" b="b"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4288">
            <a:solidFill>
              <a:srgbClr val="94A3B8"/>
            </a:solidFill>
          </a:ln>
        </p:spPr>
      </p:sp>
      <p:sp>
        <p:nvSpPr>
          <p:cNvPr id="54" name="Line 54"/>
          <p:cNvSpPr/>
          <p:nvPr/>
        </p:nvSpPr>
        <p:spPr>
          <a:xfrm>
            <a:off x="9144000" y="2857500"/>
            <a:ext cx="285750" cy="9525"/>
          </a:xfrm>
          <a:custGeom>
            <a:avLst/>
            <a:gdLst/>
            <a:ahLst/>
            <a:cxnLst/>
            <a:rect l="l" t="t" r="r" b="b"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4288">
            <a:solidFill>
              <a:srgbClr val="94A3B8"/>
            </a:solidFill>
          </a:ln>
        </p:spPr>
      </p:sp>
      <p:grpSp>
        <p:nvGrpSpPr>
          <p:cNvPr id="57" name="Group 57"/>
          <p:cNvGrpSpPr/>
          <p:nvPr/>
        </p:nvGrpSpPr>
        <p:grpSpPr>
          <a:xfrm>
            <a:off x="571500" y="4095750"/>
            <a:ext cx="11049000" cy="571500"/>
            <a:chOff x="571500" y="4095750"/>
            <a:chExt cx="11049000" cy="571500"/>
          </a:xfrm>
        </p:grpSpPr>
        <p:sp>
          <p:nvSpPr>
            <p:cNvPr id="55" name="Rectangle 55"/>
            <p:cNvSpPr/>
            <p:nvPr/>
          </p:nvSpPr>
          <p:spPr>
            <a:xfrm>
              <a:off x="571500" y="4095750"/>
              <a:ext cx="11049000" cy="571500"/>
            </a:xfrm>
            <a:prstGeom prst="roundRect">
              <a:avLst>
                <a:gd name="adj" fmla="val 16667"/>
              </a:avLst>
            </a:prstGeom>
            <a:solidFill>
              <a:srgbClr val="7F1D1D">
                <a:alpha val="30000"/>
              </a:srgbClr>
            </a:solidFill>
            <a:ln w="9525">
              <a:solidFill>
                <a:srgbClr val="EF4444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098554" y="4295775"/>
              <a:ext cx="59948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EF4444"/>
                  </a:solidFill>
                  <a:latin typeface="Calibri"/>
                  <a:ea typeface="Microsoft YaHei"/>
                  <a:cs typeface="Calibri"/>
                </a:rPr>
                <a:t>关键约束：interrupt() 之前的代码必须幂等 — 恢复时会重新执行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71500" y="4857750"/>
            <a:ext cx="11049000" cy="762000"/>
            <a:chOff x="571500" y="4857750"/>
            <a:chExt cx="11049000" cy="762000"/>
          </a:xfrm>
        </p:grpSpPr>
        <p:sp>
          <p:nvSpPr>
            <p:cNvPr id="58" name="Rectangle 58"/>
            <p:cNvSpPr/>
            <p:nvPr/>
          </p:nvSpPr>
          <p:spPr>
            <a:xfrm>
              <a:off x="571500" y="4857750"/>
              <a:ext cx="11049000" cy="762000"/>
            </a:xfrm>
            <a:prstGeom prst="roundRect">
              <a:avLst>
                <a:gd name="adj" fmla="val 12500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55904" y="5061585"/>
              <a:ext cx="56291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外层 while True 循环：恢复后可能触发新 interrupt（Agent 又要调写操作）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55904" y="5318760"/>
              <a:ext cx="39296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直到 graph 正常完成（无 pending interrupt）才退出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7784" y="356235"/>
            <a:ext cx="2571750" cy="528066"/>
            <a:chOff x="557784" y="356235"/>
            <a:chExt cx="2571750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557784" y="356235"/>
              <a:ext cx="257175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任务提交与轮询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781050"/>
              <a:ext cx="1143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B82F6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565404" y="1333500"/>
            <a:ext cx="10864596" cy="1495806"/>
            <a:chOff x="565404" y="1333500"/>
            <a:chExt cx="10864596" cy="1495806"/>
          </a:xfrm>
        </p:grpSpPr>
        <p:sp>
          <p:nvSpPr>
            <p:cNvPr id="5" name="Rectangle 5"/>
            <p:cNvSpPr/>
            <p:nvPr/>
          </p:nvSpPr>
          <p:spPr>
            <a:xfrm>
              <a:off x="571500" y="1333500"/>
              <a:ext cx="2286000" cy="762000"/>
            </a:xfrm>
            <a:prstGeom prst="roundRect">
              <a:avLst>
                <a:gd name="adj" fmla="val 15000"/>
              </a:avLst>
            </a:prstGeom>
            <a:solidFill>
              <a:srgbClr val="172554"/>
            </a:solidFill>
            <a:ln w="14288">
              <a:solidFill>
                <a:srgbClr val="3B82F6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243424" y="1530668"/>
              <a:ext cx="9421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POST 提交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27876" y="1799749"/>
              <a:ext cx="15732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/api/v1/apps/{app}/run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2857500" y="17145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rgbClr val="3B82F6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3429000" y="1333500"/>
              <a:ext cx="2095500" cy="762000"/>
            </a:xfrm>
            <a:prstGeom prst="roundRect">
              <a:avLst>
                <a:gd name="adj" fmla="val 15000"/>
              </a:avLst>
            </a:prstGeom>
            <a:solidFill>
              <a:srgbClr val="172554"/>
            </a:solidFill>
            <a:ln w="14288">
              <a:solidFill>
                <a:srgbClr val="06B6D4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006917" y="1530668"/>
              <a:ext cx="9396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拿 task_id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944087" y="179974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云端返回任务标识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5524500" y="17145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rgbClr val="06B6D4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96000" y="1333500"/>
              <a:ext cx="2476500" cy="762000"/>
            </a:xfrm>
            <a:prstGeom prst="roundRect">
              <a:avLst>
                <a:gd name="adj" fmla="val 15000"/>
              </a:avLst>
            </a:prstGeom>
            <a:solidFill>
              <a:srgbClr val="172554"/>
            </a:solidFill>
            <a:ln w="14288">
              <a:solidFill>
                <a:srgbClr val="F59E0B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782181" y="15306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固定间隔轮询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17701" y="1799749"/>
              <a:ext cx="12330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GET /status 查状态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8572500" y="17145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rgbClr val="F59E0B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9144000" y="1333500"/>
              <a:ext cx="2286000" cy="762000"/>
            </a:xfrm>
            <a:prstGeom prst="roundRect">
              <a:avLst>
                <a:gd name="adj" fmla="val 15000"/>
              </a:avLst>
            </a:prstGeom>
            <a:solidFill>
              <a:srgbClr val="172554"/>
            </a:solidFill>
            <a:ln w="14288">
              <a:solidFill>
                <a:srgbClr val="22D3EE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825800" y="15306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拿最终结果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714012" y="1799749"/>
              <a:ext cx="11459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图片/视频/3D URL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5404" y="2346960"/>
              <a:ext cx="54524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结果作为工具返回值 → LangGraph on_tool_end → block.updated 推给前端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5404" y="2594610"/>
              <a:ext cx="45515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59E0B"/>
                  </a:solidFill>
                  <a:latin typeface="Calibri"/>
                  <a:ea typeface="Microsoft YaHei"/>
                  <a:cs typeface="Calibri"/>
                </a:rPr>
                <a:t>轮询期间前端看到工具调用卡片"执行中"状态，中间进度不推送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63118" y="3250882"/>
            <a:ext cx="11057382" cy="1130618"/>
            <a:chOff x="563118" y="3250882"/>
            <a:chExt cx="11057382" cy="1130618"/>
          </a:xfrm>
        </p:grpSpPr>
        <p:sp>
          <p:nvSpPr>
            <p:cNvPr id="23" name="TextBox 23"/>
            <p:cNvSpPr txBox="1"/>
            <p:nvPr/>
          </p:nvSpPr>
          <p:spPr>
            <a:xfrm>
              <a:off x="563118" y="32508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轮询间隔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71500" y="3619500"/>
              <a:ext cx="3429000" cy="762000"/>
            </a:xfrm>
            <a:prstGeom prst="roundRect">
              <a:avLst>
                <a:gd name="adj" fmla="val 12500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025107" y="3612832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150" b="1" dirty="0">
                  <a:solidFill>
                    <a:srgbClr val="3B82F6"/>
                  </a:solidFill>
                  <a:latin typeface="Calibri"/>
                  <a:ea typeface="Calibri"/>
                  <a:cs typeface="Calibri"/>
                </a:rPr>
                <a:t>5s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56816" y="41090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图像生成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286250" y="3619500"/>
              <a:ext cx="3238500" cy="762000"/>
            </a:xfrm>
            <a:prstGeom prst="roundRect">
              <a:avLst>
                <a:gd name="adj" fmla="val 12500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522162" y="3612832"/>
              <a:ext cx="76667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150" b="1" dirty="0">
                  <a:solidFill>
                    <a:srgbClr val="06B6D4"/>
                  </a:solidFill>
                  <a:latin typeface="Calibri"/>
                  <a:ea typeface="Calibri"/>
                  <a:cs typeface="Calibri"/>
                </a:rPr>
                <a:t>10s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609234" y="4109085"/>
              <a:ext cx="5925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3D 模型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810500" y="3619500"/>
              <a:ext cx="3810000" cy="762000"/>
            </a:xfrm>
            <a:prstGeom prst="roundRect">
              <a:avLst>
                <a:gd name="adj" fmla="val 12500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332162" y="3612832"/>
              <a:ext cx="76667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150" b="1" dirty="0">
                  <a:solidFill>
                    <a:srgbClr val="22D3EE"/>
                  </a:solidFill>
                  <a:latin typeface="Calibri"/>
                  <a:ea typeface="Calibri"/>
                  <a:cs typeface="Calibri"/>
                </a:rPr>
                <a:t>30s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386316" y="41090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视频生成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71500" y="4762500"/>
            <a:ext cx="11049000" cy="762000"/>
            <a:chOff x="571500" y="4762500"/>
            <a:chExt cx="11049000" cy="762000"/>
          </a:xfrm>
        </p:grpSpPr>
        <p:sp>
          <p:nvSpPr>
            <p:cNvPr id="34" name="Rectangle 34"/>
            <p:cNvSpPr/>
            <p:nvPr/>
          </p:nvSpPr>
          <p:spPr>
            <a:xfrm>
              <a:off x="571500" y="4762500"/>
              <a:ext cx="11049000" cy="762000"/>
            </a:xfrm>
            <a:prstGeom prst="roundRect">
              <a:avLst>
                <a:gd name="adj" fmla="val 12500"/>
              </a:avLst>
            </a:prstGeom>
            <a:solidFill>
              <a:srgbClr val="172554">
                <a:alpha val="50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55142" y="49501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注意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326642" y="4950142"/>
              <a:ext cx="35672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轮询对象是云端 DM Scheduler，不是 AIGW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5904" y="5223510"/>
              <a:ext cx="39209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AIGW 只负责 LLM 推理的流式调用，不负责生成任务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71500" y="5810250"/>
            <a:ext cx="11049000" cy="571500"/>
            <a:chOff x="571500" y="5810250"/>
            <a:chExt cx="11049000" cy="571500"/>
          </a:xfrm>
        </p:grpSpPr>
        <p:sp>
          <p:nvSpPr>
            <p:cNvPr id="39" name="Rectangle 39"/>
            <p:cNvSpPr/>
            <p:nvPr/>
          </p:nvSpPr>
          <p:spPr>
            <a:xfrm>
              <a:off x="571500" y="5810250"/>
              <a:ext cx="11049000" cy="571500"/>
            </a:xfrm>
            <a:prstGeom prst="roundRect">
              <a:avLst>
                <a:gd name="adj" fmla="val 16667"/>
              </a:avLst>
            </a:prstGeom>
            <a:solidFill>
              <a:srgbClr val="0F172A"/>
            </a:solidFill>
            <a:ln w="9525">
              <a:solidFill>
                <a:srgbClr val="3B82F6"/>
              </a:solidFill>
              <a:prstDash val="lgDash"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732109" y="6010275"/>
              <a:ext cx="47277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3B82F6"/>
                  </a:solidFill>
                  <a:latin typeface="Calibri"/>
                  <a:ea typeface="Microsoft YaHei"/>
                  <a:cs typeface="Calibri"/>
                </a:rPr>
                <a:t>引出模块三：云端 dreammaker-scheduler 微服务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7784" y="356235"/>
            <a:ext cx="6336792" cy="528066"/>
            <a:chOff x="557784" y="356235"/>
            <a:chExt cx="6336792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557784" y="356235"/>
              <a:ext cx="633679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模块三：Scheduler 架构与任务全链路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781050"/>
              <a:ext cx="1143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B82F6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563118" y="1155382"/>
            <a:ext cx="11057382" cy="1416368"/>
            <a:chOff x="563118" y="1155382"/>
            <a:chExt cx="11057382" cy="1416368"/>
          </a:xfrm>
        </p:grpSpPr>
        <p:sp>
          <p:nvSpPr>
            <p:cNvPr id="5" name="TextBox 5"/>
            <p:cNvSpPr txBox="1"/>
            <p:nvPr/>
          </p:nvSpPr>
          <p:spPr>
            <a:xfrm>
              <a:off x="563118" y="11553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B82F6"/>
                  </a:solidFill>
                  <a:latin typeface="Calibri"/>
                  <a:ea typeface="Microsoft YaHei"/>
                  <a:cs typeface="Calibri"/>
                </a:rPr>
                <a:t>四个核心组件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524000"/>
              <a:ext cx="2571750" cy="1047750"/>
            </a:xfrm>
            <a:prstGeom prst="roundRect">
              <a:avLst>
                <a:gd name="adj" fmla="val 10909"/>
              </a:avLst>
            </a:prstGeom>
            <a:solidFill>
              <a:srgbClr val="1E293B"/>
            </a:solidFill>
            <a:ln w="14288">
              <a:solidFill>
                <a:srgbClr val="3B82F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87172" y="1743075"/>
              <a:ext cx="13404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1F5F9"/>
                  </a:solidFill>
                  <a:latin typeface="Calibri"/>
                  <a:ea typeface="Calibri"/>
                  <a:cs typeface="Calibri"/>
                </a:rPr>
                <a:t>app-gateway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82732" y="2058352"/>
              <a:ext cx="17492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任务入口 · 参数校验 · 鉴权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66330" y="2286952"/>
              <a:ext cx="17820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Redis 入队 · MongoDB 记录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429000" y="1524000"/>
              <a:ext cx="2571750" cy="1047750"/>
            </a:xfrm>
            <a:prstGeom prst="roundRect">
              <a:avLst>
                <a:gd name="adj" fmla="val 10909"/>
              </a:avLst>
            </a:prstGeom>
            <a:solidFill>
              <a:srgbClr val="1E293B"/>
            </a:solidFill>
            <a:ln w="14288">
              <a:solidFill>
                <a:srgbClr val="06B6D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779639" y="1743075"/>
              <a:ext cx="18704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1F5F9"/>
                  </a:solidFill>
                  <a:latin typeface="Calibri"/>
                  <a:ea typeface="Calibri"/>
                  <a:cs typeface="Calibri"/>
                </a:rPr>
                <a:t>worker-scheduler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942612" y="2058352"/>
              <a:ext cx="1544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Leader 选举 · 任务分配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62860" y="2286952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消费队列 · 结果回写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286500" y="1524000"/>
              <a:ext cx="2571750" cy="1047750"/>
            </a:xfrm>
            <a:prstGeom prst="roundRect">
              <a:avLst>
                <a:gd name="adj" fmla="val 10909"/>
              </a:avLst>
            </a:prstGeom>
            <a:solidFill>
              <a:srgbClr val="1E293B"/>
            </a:solidFill>
            <a:ln w="14288">
              <a:solidFill>
                <a:srgbClr val="22D3EE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753754" y="1743075"/>
              <a:ext cx="16372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1F5F9"/>
                  </a:solidFill>
                  <a:latin typeface="Calibri"/>
                  <a:ea typeface="Calibri"/>
                  <a:cs typeface="Calibri"/>
                </a:rPr>
                <a:t>worker-sidecar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20360" y="2058352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任务执行 · 状态上报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881489" y="2286952"/>
              <a:ext cx="13817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调供应商 · 重试/降级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9144000" y="1524000"/>
              <a:ext cx="2476500" cy="1047750"/>
            </a:xfrm>
            <a:prstGeom prst="roundRect">
              <a:avLst>
                <a:gd name="adj" fmla="val 10909"/>
              </a:avLst>
            </a:prstGeom>
            <a:solidFill>
              <a:srgbClr val="1E293B"/>
            </a:solidFill>
            <a:ln w="14288">
              <a:solidFill>
                <a:srgbClr val="F59E0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86836" y="1743075"/>
              <a:ext cx="9908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AIGW 网关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023539" y="20583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供应商网关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745904" y="2286952"/>
              <a:ext cx="12726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对接外部 AI 供应商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3143250" y="204787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4288">
              <a:solidFill>
                <a:srgbClr val="94A3B8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6000750" y="204787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4288">
              <a:solidFill>
                <a:srgbClr val="94A3B8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8858250" y="204787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4288">
              <a:solidFill>
                <a:srgbClr val="94A3B8"/>
              </a:solidFill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563118" y="3060382"/>
            <a:ext cx="11057382" cy="3130868"/>
            <a:chOff x="563118" y="3060382"/>
            <a:chExt cx="11057382" cy="3130868"/>
          </a:xfrm>
        </p:grpSpPr>
        <p:sp>
          <p:nvSpPr>
            <p:cNvPr id="26" name="TextBox 26"/>
            <p:cNvSpPr txBox="1"/>
            <p:nvPr/>
          </p:nvSpPr>
          <p:spPr>
            <a:xfrm>
              <a:off x="563118" y="30603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完整任务链路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71500" y="3429000"/>
              <a:ext cx="11049000" cy="2762250"/>
            </a:xfrm>
            <a:prstGeom prst="roundRect">
              <a:avLst>
                <a:gd name="adj" fmla="val 4138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857250" y="3619500"/>
              <a:ext cx="1905000" cy="476250"/>
            </a:xfrm>
            <a:prstGeom prst="roundRect">
              <a:avLst>
                <a:gd name="adj" fmla="val 16000"/>
              </a:avLst>
            </a:prstGeom>
            <a:solidFill>
              <a:srgbClr val="172554"/>
            </a:solidFill>
            <a:ln w="9525">
              <a:solidFill>
                <a:srgbClr val="3B82F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359066" y="3783806"/>
              <a:ext cx="901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B82F6"/>
                  </a:solidFill>
                  <a:latin typeface="Calibri"/>
                  <a:ea typeface="Calibri"/>
                  <a:cs typeface="Calibri"/>
                </a:rPr>
                <a:t>Agent POST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2762250" y="385762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4288">
              <a:solidFill>
                <a:srgbClr val="94A3B8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3048000" y="3619500"/>
              <a:ext cx="1905000" cy="476250"/>
            </a:xfrm>
            <a:prstGeom prst="roundRect">
              <a:avLst>
                <a:gd name="adj" fmla="val 16000"/>
              </a:avLst>
            </a:prstGeom>
            <a:solidFill>
              <a:srgbClr val="172554"/>
            </a:solidFill>
            <a:ln w="9525">
              <a:solidFill>
                <a:srgbClr val="06B6D4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499680" y="3783806"/>
              <a:ext cx="10016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gateway 校验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953000" y="385762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4288">
              <a:solidFill>
                <a:srgbClr val="94A3B8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238750" y="3619500"/>
              <a:ext cx="2381250" cy="476250"/>
            </a:xfrm>
            <a:prstGeom prst="roundRect">
              <a:avLst>
                <a:gd name="adj" fmla="val 16000"/>
              </a:avLst>
            </a:prstGeom>
            <a:solidFill>
              <a:srgbClr val="172554"/>
            </a:solidFill>
            <a:ln w="9525">
              <a:solidFill>
                <a:srgbClr val="22D3EE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593412" y="3783806"/>
              <a:ext cx="16719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2D3EE"/>
                  </a:solidFill>
                  <a:latin typeface="Calibri"/>
                  <a:ea typeface="Calibri"/>
                  <a:cs typeface="Calibri"/>
                </a:rPr>
                <a:t>Redis ZADD + MongoDB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7620000" y="385762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4288">
              <a:solidFill>
                <a:srgbClr val="94A3B8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905750" y="3619500"/>
              <a:ext cx="1905000" cy="476250"/>
            </a:xfrm>
            <a:prstGeom prst="roundRect">
              <a:avLst>
                <a:gd name="adj" fmla="val 16000"/>
              </a:avLst>
            </a:prstGeom>
            <a:solidFill>
              <a:srgbClr val="172554"/>
            </a:solidFill>
            <a:ln w="9525">
              <a:solidFill>
                <a:srgbClr val="F59E0B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305978" y="3783806"/>
              <a:ext cx="1104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59E0B"/>
                  </a:solidFill>
                  <a:latin typeface="Calibri"/>
                  <a:ea typeface="Microsoft YaHei"/>
                  <a:cs typeface="Calibri"/>
                </a:rPr>
                <a:t>scheduler 消费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57250" y="4381500"/>
              <a:ext cx="1905000" cy="476250"/>
            </a:xfrm>
            <a:prstGeom prst="roundRect">
              <a:avLst>
                <a:gd name="adj" fmla="val 16000"/>
              </a:avLst>
            </a:prstGeom>
            <a:solidFill>
              <a:srgbClr val="172554"/>
            </a:solidFill>
            <a:ln w="9525">
              <a:solidFill>
                <a:srgbClr val="F59E0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272107" y="4545806"/>
              <a:ext cx="10752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59E0B"/>
                  </a:solidFill>
                  <a:latin typeface="Calibri"/>
                  <a:ea typeface="Microsoft YaHei"/>
                  <a:cs typeface="Calibri"/>
                </a:rPr>
                <a:t>分配给 Worker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2762250" y="461962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4288">
              <a:solidFill>
                <a:srgbClr val="94A3B8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3048000" y="4381500"/>
              <a:ext cx="2381250" cy="476250"/>
            </a:xfrm>
            <a:prstGeom prst="roundRect">
              <a:avLst>
                <a:gd name="adj" fmla="val 16000"/>
              </a:avLst>
            </a:prstGeom>
            <a:solidFill>
              <a:srgbClr val="172554"/>
            </a:solidFill>
            <a:ln w="9525">
              <a:solidFill>
                <a:srgbClr val="22D3EE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622651" y="4545806"/>
              <a:ext cx="12319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sidecar 调供应商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5429250" y="461962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4288">
              <a:solidFill>
                <a:srgbClr val="94A3B8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5715000" y="4381500"/>
              <a:ext cx="1905000" cy="476250"/>
            </a:xfrm>
            <a:prstGeom prst="roundRect">
              <a:avLst>
                <a:gd name="adj" fmla="val 16000"/>
              </a:avLst>
            </a:prstGeom>
            <a:solidFill>
              <a:srgbClr val="172554"/>
            </a:solidFill>
            <a:ln w="9525">
              <a:solidFill>
                <a:srgbClr val="06B6D4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189683" y="4545806"/>
              <a:ext cx="9556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6B6D4"/>
                  </a:solidFill>
                  <a:latin typeface="Calibri"/>
                  <a:ea typeface="Calibri"/>
                  <a:cs typeface="Calibri"/>
                </a:rPr>
                <a:t>HTTP Report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7620000" y="461962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4288">
              <a:solidFill>
                <a:srgbClr val="94A3B8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905750" y="4381500"/>
              <a:ext cx="1905000" cy="476250"/>
            </a:xfrm>
            <a:prstGeom prst="roundRect">
              <a:avLst>
                <a:gd name="adj" fmla="val 16000"/>
              </a:avLst>
            </a:prstGeom>
            <a:solidFill>
              <a:srgbClr val="172554"/>
            </a:solidFill>
            <a:ln w="9525">
              <a:solidFill>
                <a:srgbClr val="3B82F6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211367" y="4545806"/>
              <a:ext cx="12937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B82F6"/>
                  </a:solidFill>
                  <a:latin typeface="Calibri"/>
                  <a:ea typeface="Calibri"/>
                  <a:cs typeface="Calibri"/>
                </a:rPr>
                <a:t>MongoDB + Kafka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57250" y="5143500"/>
              <a:ext cx="10477500" cy="476250"/>
            </a:xfrm>
            <a:prstGeom prst="roundRect">
              <a:avLst>
                <a:gd name="adj" fmla="val 16000"/>
              </a:avLst>
            </a:prstGeom>
            <a:solidFill>
              <a:srgbClr val="0F172A"/>
            </a:solidFill>
            <a:ln w="9525">
              <a:solidFill>
                <a:srgbClr val="22D3EE"/>
              </a:solidFill>
              <a:prstDash val="lgDash"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485293" y="5318760"/>
              <a:ext cx="52214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本地 Agent 轮询 GET /status → 拿到 success + 最终结果 → 推给前端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51916" y="5839778"/>
              <a:ext cx="44752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Redis ZSet 做优先级队列 · MongoDB 存任务状态 · Kafka 供下游消费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7784" y="356235"/>
            <a:ext cx="5554963" cy="528066"/>
            <a:chOff x="557784" y="356235"/>
            <a:chExt cx="5554963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557784" y="356235"/>
              <a:ext cx="555496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优先级队列：加权轮询 + 无锁抢占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781050"/>
              <a:ext cx="1143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B82F6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63118" y="1155382"/>
            <a:ext cx="5532882" cy="2464118"/>
            <a:chOff x="563118" y="1155382"/>
            <a:chExt cx="5532882" cy="2464118"/>
          </a:xfrm>
        </p:grpSpPr>
        <p:sp>
          <p:nvSpPr>
            <p:cNvPr id="5" name="TextBox 5"/>
            <p:cNvSpPr txBox="1"/>
            <p:nvPr/>
          </p:nvSpPr>
          <p:spPr>
            <a:xfrm>
              <a:off x="563118" y="115538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B82F6"/>
                  </a:solidFill>
                  <a:latin typeface="Calibri"/>
                  <a:ea typeface="Microsoft YaHei"/>
                  <a:cs typeface="Calibri"/>
                </a:rPr>
                <a:t>加权轮询解决饥饿问题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524000"/>
              <a:ext cx="5524500" cy="2095500"/>
            </a:xfrm>
            <a:prstGeom prst="roundRect">
              <a:avLst>
                <a:gd name="adj" fmla="val 5455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5904" y="1727835"/>
              <a:ext cx="27826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纯优先级 → 高负载时低优先级完全饿死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5904" y="204216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解法：为每个优先级维护配额计数器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952500" y="2362200"/>
              <a:ext cx="1905000" cy="476250"/>
            </a:xfrm>
            <a:prstGeom prst="roundRect">
              <a:avLst>
                <a:gd name="adj" fmla="val 16000"/>
              </a:avLst>
            </a:prstGeom>
            <a:solidFill>
              <a:srgbClr val="172554"/>
            </a:solidFill>
            <a:ln w="9525">
              <a:solidFill>
                <a:srgbClr val="3B82F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74851" y="242316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3B82F6"/>
                  </a:solidFill>
                  <a:latin typeface="Calibri"/>
                  <a:ea typeface="Calibri"/>
                  <a:cs typeface="Calibri"/>
                </a:rPr>
                <a:t>priority=5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92228" y="2629852"/>
              <a:ext cx="6255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weight=5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048000" y="2362200"/>
              <a:ext cx="1905000" cy="476250"/>
            </a:xfrm>
            <a:prstGeom prst="roundRect">
              <a:avLst>
                <a:gd name="adj" fmla="val 16000"/>
              </a:avLst>
            </a:prstGeom>
            <a:solidFill>
              <a:srgbClr val="172554"/>
            </a:solidFill>
            <a:ln w="9525">
              <a:solidFill>
                <a:srgbClr val="06B6D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70351" y="242316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6B6D4"/>
                  </a:solidFill>
                  <a:latin typeface="Calibri"/>
                  <a:ea typeface="Calibri"/>
                  <a:cs typeface="Calibri"/>
                </a:rPr>
                <a:t>priority=0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687728" y="2629852"/>
              <a:ext cx="6255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weight=3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5904" y="2994660"/>
              <a:ext cx="26938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一轮 8 次：前 5 次高优 · 后 3 次低优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6666" y="3268028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降序兜底：选出的队列为空时扫全部队列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373368" y="1155382"/>
            <a:ext cx="5247132" cy="2464118"/>
            <a:chOff x="6373368" y="1155382"/>
            <a:chExt cx="5247132" cy="2464118"/>
          </a:xfrm>
        </p:grpSpPr>
        <p:sp>
          <p:nvSpPr>
            <p:cNvPr id="18" name="TextBox 18"/>
            <p:cNvSpPr txBox="1"/>
            <p:nvPr/>
          </p:nvSpPr>
          <p:spPr>
            <a:xfrm>
              <a:off x="6373368" y="11553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无锁乐观抢占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381750" y="1524000"/>
              <a:ext cx="5238750" cy="2095500"/>
            </a:xfrm>
            <a:prstGeom prst="roundRect">
              <a:avLst>
                <a:gd name="adj" fmla="val 5455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572250" y="1714500"/>
              <a:ext cx="4857750" cy="381000"/>
            </a:xfrm>
            <a:prstGeom prst="roundRect">
              <a:avLst>
                <a:gd name="adj" fmla="val 15000"/>
              </a:avLst>
            </a:prstGeom>
            <a:solidFill>
              <a:srgbClr val="17255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61785" y="1840706"/>
              <a:ext cx="6808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B82F6"/>
                  </a:solidFill>
                  <a:latin typeface="Calibri"/>
                  <a:ea typeface="Calibri"/>
                  <a:cs typeface="Calibri"/>
                </a:rPr>
                <a:t>① ZRange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09535" y="1840706"/>
              <a:ext cx="1255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批量取 256 个候选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572250" y="2190750"/>
              <a:ext cx="4857750" cy="381000"/>
            </a:xfrm>
            <a:prstGeom prst="roundRect">
              <a:avLst>
                <a:gd name="adj" fmla="val 15000"/>
              </a:avLst>
            </a:prstGeom>
            <a:solidFill>
              <a:srgbClr val="17255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61785" y="2316956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② 遍历检查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00035" y="2316956"/>
              <a:ext cx="1391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用户并发冲突 → 跳过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572250" y="2667000"/>
              <a:ext cx="4857750" cy="381000"/>
            </a:xfrm>
            <a:prstGeom prst="roundRect">
              <a:avLst>
                <a:gd name="adj" fmla="val 15000"/>
              </a:avLst>
            </a:prstGeom>
            <a:solidFill>
              <a:srgbClr val="17255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661785" y="2793206"/>
              <a:ext cx="9238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③ ZREM 抢占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95285" y="2793206"/>
              <a:ext cx="19631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Redis 单线程，只有一个成功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572250" y="3143250"/>
              <a:ext cx="4857750" cy="381000"/>
            </a:xfrm>
            <a:prstGeom prst="roundRect">
              <a:avLst>
                <a:gd name="adj" fmla="val 15000"/>
              </a:avLst>
            </a:prstGeom>
            <a:solidFill>
              <a:srgbClr val="172554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61785" y="3269456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59E0B"/>
                  </a:solidFill>
                  <a:latin typeface="Calibri"/>
                  <a:ea typeface="Microsoft YaHei"/>
                  <a:cs typeface="Calibri"/>
                </a:rPr>
                <a:t>④ 二轮兜底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95285" y="3269456"/>
              <a:ext cx="20481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对跳过的 member 再 grabJob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63880" y="4171950"/>
            <a:ext cx="11056620" cy="1971675"/>
            <a:chOff x="563880" y="4171950"/>
            <a:chExt cx="11056620" cy="1971675"/>
          </a:xfrm>
        </p:grpSpPr>
        <p:sp>
          <p:nvSpPr>
            <p:cNvPr id="33" name="TextBox 33"/>
            <p:cNvSpPr txBox="1"/>
            <p:nvPr/>
          </p:nvSpPr>
          <p:spPr>
            <a:xfrm>
              <a:off x="563880" y="4171950"/>
              <a:ext cx="27423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为什么不用 Lua / 分布式锁？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71500" y="4524375"/>
              <a:ext cx="5334000" cy="1619250"/>
            </a:xfrm>
            <a:prstGeom prst="roundRect">
              <a:avLst>
                <a:gd name="adj" fmla="val 5882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55904" y="4680585"/>
              <a:ext cx="10594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F4444"/>
                  </a:solidFill>
                  <a:latin typeface="Calibri"/>
                  <a:ea typeface="Microsoft YaHei"/>
                  <a:cs typeface="Calibri"/>
                </a:rPr>
                <a:t>不用 Lua 脚本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6285" y="4974431"/>
              <a:ext cx="19470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ZRange 后还要检查用户并发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6285" y="5193506"/>
              <a:ext cx="29766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（查 Go 进程内存的 concurrentManager）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6285" y="5412581"/>
              <a:ext cx="26185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这些业务判断无法在 Redis Lua 里完成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6666" y="5696902"/>
              <a:ext cx="23076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批量 256 候选足够高效，空竞争率低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191250" y="4524375"/>
              <a:ext cx="5429250" cy="1619250"/>
            </a:xfrm>
            <a:prstGeom prst="roundRect">
              <a:avLst>
                <a:gd name="adj" fmla="val 5882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75654" y="468058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F4444"/>
                  </a:solidFill>
                  <a:latin typeface="Calibri"/>
                  <a:ea typeface="Microsoft YaHei"/>
                  <a:cs typeface="Calibri"/>
                </a:rPr>
                <a:t>不用分布式锁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76035" y="4974431"/>
              <a:ext cx="26543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RedLock 引入锁竞争/超时/续租复杂性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376035" y="5260181"/>
              <a:ext cx="27180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ZREM 天然具有"谁删成功谁拥有"语义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76035" y="554593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本质是乐观并发控制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376416" y="5792152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比悲观锁性能更好、实现更简单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7784" y="356235"/>
            <a:ext cx="6951269" cy="528066"/>
            <a:chOff x="557784" y="356235"/>
            <a:chExt cx="6951269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557784" y="356235"/>
              <a:ext cx="695126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用户并发管控：etcd Watch + 原子计数器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781050"/>
              <a:ext cx="1143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B82F6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63118" y="1155382"/>
            <a:ext cx="5532882" cy="2273618"/>
            <a:chOff x="563118" y="1155382"/>
            <a:chExt cx="5532882" cy="2273618"/>
          </a:xfrm>
        </p:grpSpPr>
        <p:sp>
          <p:nvSpPr>
            <p:cNvPr id="5" name="TextBox 5"/>
            <p:cNvSpPr txBox="1"/>
            <p:nvPr/>
          </p:nvSpPr>
          <p:spPr>
            <a:xfrm>
              <a:off x="563118" y="1155382"/>
              <a:ext cx="22589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3B82F6"/>
                  </a:solidFill>
                  <a:latin typeface="Calibri"/>
                  <a:ea typeface="Calibri"/>
                  <a:cs typeface="Calibri"/>
                </a:rPr>
                <a:t>ConcurrentManager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524000"/>
              <a:ext cx="5524500" cy="1905000"/>
            </a:xfrm>
            <a:prstGeom prst="roundRect">
              <a:avLst>
                <a:gd name="adj" fmla="val 6000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5904" y="172783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纯内存原子计数器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2019300"/>
              <a:ext cx="2381250" cy="476250"/>
            </a:xfrm>
            <a:prstGeom prst="roundRect">
              <a:avLst>
                <a:gd name="adj" fmla="val 1600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23734" y="2183606"/>
              <a:ext cx="657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B82F6"/>
                  </a:solidFill>
                  <a:latin typeface="Calibri"/>
                  <a:ea typeface="Calibri"/>
                  <a:cs typeface="Calibri"/>
                </a:rPr>
                <a:t>taskMap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280791" y="2191702"/>
              <a:ext cx="19523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source::taskMode::cluster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2590800"/>
              <a:ext cx="2381250" cy="476250"/>
            </a:xfrm>
            <a:prstGeom prst="roundRect">
              <a:avLst>
                <a:gd name="adj" fmla="val 1600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623734" y="2755106"/>
              <a:ext cx="657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6B6D4"/>
                  </a:solidFill>
                  <a:latin typeface="Calibri"/>
                  <a:ea typeface="Calibri"/>
                  <a:cs typeface="Calibri"/>
                </a:rPr>
                <a:t>userMap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280791" y="2763202"/>
              <a:ext cx="7668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+ user 维度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6666" y="3172778"/>
              <a:ext cx="25466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go.uber.org/atomic Int64 · CAS 循环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373368" y="1155382"/>
            <a:ext cx="5247132" cy="2273618"/>
            <a:chOff x="6373368" y="1155382"/>
            <a:chExt cx="5247132" cy="2273618"/>
          </a:xfrm>
        </p:grpSpPr>
        <p:sp>
          <p:nvSpPr>
            <p:cNvPr id="16" name="TextBox 16"/>
            <p:cNvSpPr txBox="1"/>
            <p:nvPr/>
          </p:nvSpPr>
          <p:spPr>
            <a:xfrm>
              <a:off x="6373368" y="1155382"/>
              <a:ext cx="181330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etcd Watch 驱动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381750" y="1524000"/>
              <a:ext cx="5238750" cy="1905000"/>
            </a:xfrm>
            <a:prstGeom prst="roundRect">
              <a:avLst>
                <a:gd name="adj" fmla="val 6000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572250" y="1762125"/>
              <a:ext cx="2286000" cy="571500"/>
            </a:xfrm>
            <a:prstGeom prst="roundRect">
              <a:avLst>
                <a:gd name="adj" fmla="val 13333"/>
              </a:avLst>
            </a:prstGeom>
            <a:solidFill>
              <a:srgbClr val="172554"/>
            </a:solidFill>
            <a:ln w="14288">
              <a:solidFill>
                <a:srgbClr val="22D3EE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63724" y="1889760"/>
              <a:ext cx="7030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PUT 事件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68194" y="2115502"/>
              <a:ext cx="8941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任务注册 → +1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144000" y="1762125"/>
              <a:ext cx="2286000" cy="571500"/>
            </a:xfrm>
            <a:prstGeom prst="roundRect">
              <a:avLst>
                <a:gd name="adj" fmla="val 13333"/>
              </a:avLst>
            </a:prstGeom>
            <a:solidFill>
              <a:srgbClr val="172554"/>
            </a:solidFill>
            <a:ln w="14288">
              <a:solidFill>
                <a:srgbClr val="EF4444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787616" y="1889760"/>
              <a:ext cx="9987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EF4444"/>
                  </a:solidFill>
                  <a:latin typeface="Calibri"/>
                  <a:ea typeface="Microsoft YaHei"/>
                  <a:cs typeface="Calibri"/>
                </a:rPr>
                <a:t>DELETE 事件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59722" y="2115502"/>
              <a:ext cx="12545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任务完成/崩溃 → -1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66154" y="2585085"/>
              <a:ext cx="2097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Watch 前缀：/task/{env}/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66154" y="2870835"/>
              <a:ext cx="24909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消费时检查 GetUser() ≥ 1 → 跳过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66916" y="3172778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防止一个用户占满集群算力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63118" y="3965258"/>
            <a:ext cx="11057382" cy="2225992"/>
            <a:chOff x="563118" y="3965258"/>
            <a:chExt cx="11057382" cy="2225992"/>
          </a:xfrm>
        </p:grpSpPr>
        <p:sp>
          <p:nvSpPr>
            <p:cNvPr id="28" name="TextBox 28"/>
            <p:cNvSpPr txBox="1"/>
            <p:nvPr/>
          </p:nvSpPr>
          <p:spPr>
            <a:xfrm>
              <a:off x="563118" y="3965258"/>
              <a:ext cx="14566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多 Pod 一致性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71500" y="4381500"/>
              <a:ext cx="11049000" cy="1809750"/>
            </a:xfrm>
            <a:prstGeom prst="roundRect">
              <a:avLst>
                <a:gd name="adj" fmla="val 6316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952500" y="4667250"/>
              <a:ext cx="2095500" cy="666750"/>
            </a:xfrm>
            <a:prstGeom prst="roundRect">
              <a:avLst>
                <a:gd name="adj" fmla="val 14286"/>
              </a:avLst>
            </a:prstGeom>
            <a:solidFill>
              <a:srgbClr val="172554"/>
            </a:solidFill>
            <a:ln w="9525">
              <a:solidFill>
                <a:srgbClr val="3B82F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776127" y="4842510"/>
              <a:ext cx="4482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3B82F6"/>
                  </a:solidFill>
                  <a:latin typeface="Calibri"/>
                  <a:ea typeface="Calibri"/>
                  <a:cs typeface="Calibri"/>
                </a:rPr>
                <a:t>Pod A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61148" y="5095399"/>
              <a:ext cx="12782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ConcurrentManager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810000" y="4667250"/>
              <a:ext cx="2095500" cy="666750"/>
            </a:xfrm>
            <a:prstGeom prst="roundRect">
              <a:avLst>
                <a:gd name="adj" fmla="val 14286"/>
              </a:avLst>
            </a:prstGeom>
            <a:solidFill>
              <a:srgbClr val="172554"/>
            </a:solidFill>
            <a:ln w="9525">
              <a:solidFill>
                <a:srgbClr val="06B6D4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33627" y="4842510"/>
              <a:ext cx="4482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6B6D4"/>
                  </a:solidFill>
                  <a:latin typeface="Calibri"/>
                  <a:ea typeface="Calibri"/>
                  <a:cs typeface="Calibri"/>
                </a:rPr>
                <a:t>Pod B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218648" y="5095399"/>
              <a:ext cx="12782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ConcurrentManager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667500" y="4667250"/>
              <a:ext cx="2095500" cy="666750"/>
            </a:xfrm>
            <a:prstGeom prst="roundRect">
              <a:avLst>
                <a:gd name="adj" fmla="val 14286"/>
              </a:avLst>
            </a:prstGeom>
            <a:solidFill>
              <a:srgbClr val="172554"/>
            </a:solidFill>
            <a:ln w="9525">
              <a:solidFill>
                <a:srgbClr val="22D3EE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491127" y="4842510"/>
              <a:ext cx="4482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2D3EE"/>
                  </a:solidFill>
                  <a:latin typeface="Calibri"/>
                  <a:ea typeface="Calibri"/>
                  <a:cs typeface="Calibri"/>
                </a:rPr>
                <a:t>Pod C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76148" y="5095399"/>
              <a:ext cx="12782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ConcurrentManager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525000" y="4667250"/>
              <a:ext cx="1714500" cy="666750"/>
            </a:xfrm>
            <a:prstGeom prst="roundRect">
              <a:avLst>
                <a:gd name="adj" fmla="val 14286"/>
              </a:avLst>
            </a:prstGeom>
            <a:solidFill>
              <a:srgbClr val="0F172A"/>
            </a:solidFill>
            <a:ln w="14288">
              <a:solidFill>
                <a:srgbClr val="F59E0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165486" y="4902518"/>
              <a:ext cx="433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59E0B"/>
                  </a:solidFill>
                  <a:latin typeface="Calibri"/>
                  <a:ea typeface="Calibri"/>
                  <a:cs typeface="Calibri"/>
                </a:rPr>
                <a:t>etcd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3048000" y="5000625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9525">
              <a:solidFill>
                <a:srgbClr val="94A3B8"/>
              </a:solidFill>
              <a:prstDash val="dash"/>
            </a:ln>
          </p:spPr>
        </p:sp>
        <p:sp>
          <p:nvSpPr>
            <p:cNvPr id="42" name="Line 42"/>
            <p:cNvSpPr/>
            <p:nvPr/>
          </p:nvSpPr>
          <p:spPr>
            <a:xfrm>
              <a:off x="5905500" y="5000625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9525">
              <a:solidFill>
                <a:srgbClr val="94A3B8"/>
              </a:solidFill>
              <a:prstDash val="dash"/>
            </a:ln>
          </p:spPr>
        </p:sp>
        <p:sp>
          <p:nvSpPr>
            <p:cNvPr id="43" name="Line 43"/>
            <p:cNvSpPr/>
            <p:nvPr/>
          </p:nvSpPr>
          <p:spPr>
            <a:xfrm>
              <a:off x="8763000" y="5000625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9525">
              <a:solidFill>
                <a:srgbClr val="F59E0B"/>
              </a:solidFill>
              <a:prstDash val="dash"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46404" y="5585460"/>
              <a:ext cx="56244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所有 Pod Watch 同一前缀 → 一个 Pod 注册任务 → 其他 Pod 收到 PUT 各自 +1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46404" y="5852160"/>
              <a:ext cx="47696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59E0B"/>
                  </a:solidFill>
                  <a:latin typeface="Calibri"/>
                  <a:ea typeface="Microsoft YaHei"/>
                  <a:cs typeface="Calibri"/>
                </a:rPr>
                <a:t>毫秒级延迟 → 最终一致 · 极端短暂超过并发限制 · 对限制场景够用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7784" y="356235"/>
            <a:ext cx="4059696" cy="528066"/>
            <a:chOff x="557784" y="356235"/>
            <a:chExt cx="4059696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557784" y="356235"/>
              <a:ext cx="405969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Worker 注册发现与心跳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781050"/>
              <a:ext cx="1143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B82F6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563118" y="1155382"/>
            <a:ext cx="10866882" cy="1883474"/>
            <a:chOff x="563118" y="1155382"/>
            <a:chExt cx="10866882" cy="1883474"/>
          </a:xfrm>
        </p:grpSpPr>
        <p:sp>
          <p:nvSpPr>
            <p:cNvPr id="5" name="TextBox 5"/>
            <p:cNvSpPr txBox="1"/>
            <p:nvPr/>
          </p:nvSpPr>
          <p:spPr>
            <a:xfrm>
              <a:off x="563118" y="1155382"/>
              <a:ext cx="18082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B82F6"/>
                  </a:solidFill>
                  <a:latin typeface="Calibri"/>
                  <a:ea typeface="Microsoft YaHei"/>
                  <a:cs typeface="Calibri"/>
                </a:rPr>
                <a:t>Worker 生命周期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571625"/>
              <a:ext cx="1905000" cy="619125"/>
            </a:xfrm>
            <a:prstGeom prst="roundRect">
              <a:avLst>
                <a:gd name="adj" fmla="val 15385"/>
              </a:avLst>
            </a:prstGeom>
            <a:solidFill>
              <a:srgbClr val="172554"/>
            </a:solidFill>
            <a:ln w="14288">
              <a:solidFill>
                <a:srgbClr val="3B82F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94816" y="17278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B82F6"/>
                  </a:solidFill>
                  <a:latin typeface="Calibri"/>
                  <a:ea typeface="Microsoft YaHei"/>
                  <a:cs typeface="Calibri"/>
                </a:rPr>
                <a:t>启动注册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23083" y="1950720"/>
              <a:ext cx="10018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HTTP → scheduler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2476500" y="188595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4288">
              <a:solidFill>
                <a:srgbClr val="94A3B8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2762250" y="1571625"/>
              <a:ext cx="1905000" cy="619125"/>
            </a:xfrm>
            <a:prstGeom prst="roundRect">
              <a:avLst>
                <a:gd name="adj" fmla="val 15385"/>
              </a:avLst>
            </a:prstGeom>
            <a:solidFill>
              <a:srgbClr val="172554"/>
            </a:solidFill>
            <a:ln w="14288">
              <a:solidFill>
                <a:srgbClr val="06B6D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353844" y="1727835"/>
              <a:ext cx="721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6B6D4"/>
                  </a:solidFill>
                  <a:latin typeface="Calibri"/>
                  <a:ea typeface="Calibri"/>
                  <a:cs typeface="Calibri"/>
                </a:rPr>
                <a:t>Put etcd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400600" y="1950720"/>
              <a:ext cx="6282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绑定 Lease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4667250" y="188595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4288">
              <a:solidFill>
                <a:srgbClr val="94A3B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4953000" y="1571625"/>
              <a:ext cx="1905000" cy="619125"/>
            </a:xfrm>
            <a:prstGeom prst="roundRect">
              <a:avLst>
                <a:gd name="adj" fmla="val 15385"/>
              </a:avLst>
            </a:prstGeom>
            <a:solidFill>
              <a:srgbClr val="172554"/>
            </a:solidFill>
            <a:ln w="14288">
              <a:solidFill>
                <a:srgbClr val="22D3EE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572479" y="1727835"/>
              <a:ext cx="666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30s 心跳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33911" y="1950720"/>
              <a:ext cx="7431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HTTP re-PUT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858000" y="188595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4288">
              <a:solidFill>
                <a:srgbClr val="94A3B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143750" y="1571625"/>
              <a:ext cx="1905000" cy="619125"/>
            </a:xfrm>
            <a:prstGeom prst="roundRect">
              <a:avLst>
                <a:gd name="adj" fmla="val 15385"/>
              </a:avLst>
            </a:prstGeom>
            <a:solidFill>
              <a:srgbClr val="172554"/>
            </a:solidFill>
            <a:ln w="14288">
              <a:solidFill>
                <a:srgbClr val="EF4444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928610" y="17278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EF4444"/>
                  </a:solidFill>
                  <a:latin typeface="Calibri"/>
                  <a:ea typeface="Microsoft YaHei"/>
                  <a:cs typeface="Calibri"/>
                </a:rPr>
                <a:t>宕机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49171" y="195072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心跳停止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9048750" y="188595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4288">
              <a:solidFill>
                <a:srgbClr val="94A3B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9334500" y="1571625"/>
              <a:ext cx="2095500" cy="619125"/>
            </a:xfrm>
            <a:prstGeom prst="roundRect">
              <a:avLst>
                <a:gd name="adj" fmla="val 15385"/>
              </a:avLst>
            </a:prstGeom>
            <a:solidFill>
              <a:srgbClr val="172554"/>
            </a:solidFill>
            <a:ln w="14288">
              <a:solidFill>
                <a:srgbClr val="F59E0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951181" y="1727835"/>
              <a:ext cx="8621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59E0B"/>
                  </a:solidFill>
                  <a:latin typeface="Calibri"/>
                  <a:ea typeface="Microsoft YaHei"/>
                  <a:cs typeface="Calibri"/>
                </a:rPr>
                <a:t>Lease 过期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926174" y="1950720"/>
              <a:ext cx="9121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etcd 自动删 key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5404" y="2537460"/>
              <a:ext cx="59919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两套 Lease：scheduler 侧 TTL=7200s（任务）· api-kube 侧 TTL=3600s（Pod）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5404" y="2804160"/>
              <a:ext cx="31305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scheduler 每 5 分钟 re-Grant 刷新 Lease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63118" y="3774758"/>
            <a:ext cx="11057382" cy="2511742"/>
            <a:chOff x="563118" y="3774758"/>
            <a:chExt cx="11057382" cy="2511742"/>
          </a:xfrm>
        </p:grpSpPr>
        <p:sp>
          <p:nvSpPr>
            <p:cNvPr id="28" name="TextBox 28"/>
            <p:cNvSpPr txBox="1"/>
            <p:nvPr/>
          </p:nvSpPr>
          <p:spPr>
            <a:xfrm>
              <a:off x="563118" y="3774758"/>
              <a:ext cx="30526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Watch DELETE 触发三步清理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71500" y="4191000"/>
              <a:ext cx="3524250" cy="1333500"/>
            </a:xfrm>
            <a:prstGeom prst="roundRect">
              <a:avLst>
                <a:gd name="adj" fmla="val 8571"/>
              </a:avLst>
            </a:prstGeom>
            <a:solidFill>
              <a:srgbClr val="1E293B"/>
            </a:solidFill>
            <a:ln w="9525">
              <a:solidFill>
                <a:srgbClr val="3B82F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762000" y="4362450"/>
              <a:ext cx="342900" cy="228600"/>
            </a:xfrm>
            <a:prstGeom prst="roundRect">
              <a:avLst>
                <a:gd name="adj" fmla="val 16667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87301" y="44205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31392" y="43881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调度缓存移除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6285" y="4736306"/>
              <a:ext cx="15064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workerCache.Delete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6666" y="4982528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从内存调度缓存中删除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6666" y="52016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后续不再分配任务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333875" y="4191000"/>
              <a:ext cx="3524250" cy="1333500"/>
            </a:xfrm>
            <a:prstGeom prst="roundRect">
              <a:avLst>
                <a:gd name="adj" fmla="val 8571"/>
              </a:avLst>
            </a:prstGeom>
            <a:solidFill>
              <a:srgbClr val="1E293B"/>
            </a:solidFill>
            <a:ln w="9525">
              <a:solidFill>
                <a:srgbClr val="06B6D4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4524375" y="4362450"/>
              <a:ext cx="342900" cy="228600"/>
            </a:xfrm>
            <a:prstGeom prst="roundRect">
              <a:avLst>
                <a:gd name="adj" fmla="val 16667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649676" y="44205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993767" y="43881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路由表清理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518660" y="4736306"/>
              <a:ext cx="23756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cacheKeyManager.WorkerDelete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519041" y="4982528"/>
              <a:ext cx="15019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按类型/集群的索引清理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519041" y="52016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任务路由表同步更新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096250" y="4191000"/>
              <a:ext cx="3524250" cy="1333500"/>
            </a:xfrm>
            <a:prstGeom prst="roundRect">
              <a:avLst>
                <a:gd name="adj" fmla="val 8571"/>
              </a:avLst>
            </a:prstGeom>
            <a:solidFill>
              <a:srgbClr val="1E293B"/>
            </a:solidFill>
            <a:ln w="9525">
              <a:solidFill>
                <a:srgbClr val="22D3EE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8286750" y="4362450"/>
              <a:ext cx="342900" cy="228600"/>
            </a:xfrm>
            <a:prstGeom prst="roundRect">
              <a:avLst>
                <a:gd name="adj" fmla="val 16667"/>
              </a:avLst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12051" y="44205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B1120"/>
                  </a:solidFill>
                  <a:latin typeface="Calibri"/>
                  <a:ea typeface="Calibri"/>
                  <a:cs typeface="Calibri"/>
                </a:rPr>
                <a:t>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756142" y="43881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集群计数递减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81035" y="4736306"/>
              <a:ext cx="17904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workerClusterMap.Decr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81416" y="4982528"/>
              <a:ext cx="15088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对应集群 Worker 数 -1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81416" y="52016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影响后续调度决策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71500" y="5810250"/>
              <a:ext cx="11049000" cy="476250"/>
            </a:xfrm>
            <a:prstGeom prst="roundRect">
              <a:avLst>
                <a:gd name="adj" fmla="val 20000"/>
              </a:avLst>
            </a:prstGeom>
            <a:solidFill>
              <a:srgbClr val="172554">
                <a:alpha val="50000"/>
              </a:srgbClr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381576" y="5985510"/>
              <a:ext cx="34288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已下线节点不会再被分配任务 — 保证调度安全性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7784" y="356235"/>
            <a:ext cx="4140203" cy="528066"/>
            <a:chOff x="557784" y="356235"/>
            <a:chExt cx="4140203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557784" y="356235"/>
              <a:ext cx="414020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GPU Worker 弹性扩缩容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781050"/>
              <a:ext cx="1143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B82F6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1500" y="1047750"/>
            <a:ext cx="11049000" cy="952500"/>
            <a:chOff x="571500" y="1047750"/>
            <a:chExt cx="11049000" cy="952500"/>
          </a:xfrm>
        </p:grpSpPr>
        <p:sp>
          <p:nvSpPr>
            <p:cNvPr id="5" name="Rectangle 5"/>
            <p:cNvSpPr/>
            <p:nvPr/>
          </p:nvSpPr>
          <p:spPr>
            <a:xfrm>
              <a:off x="571500" y="1047750"/>
              <a:ext cx="11049000" cy="952500"/>
            </a:xfrm>
            <a:prstGeom prst="roundRect">
              <a:avLst>
                <a:gd name="adj" fmla="val 12000"/>
              </a:avLst>
            </a:prstGeom>
            <a:solidFill>
              <a:srgbClr val="7F1D1D">
                <a:alpha val="30000"/>
              </a:srgbClr>
            </a:solidFill>
            <a:ln w="9525">
              <a:solidFill>
                <a:srgbClr val="EF4444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4380" y="1247775"/>
              <a:ext cx="23571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F4444"/>
                  </a:solidFill>
                  <a:latin typeface="Calibri"/>
                  <a:ea typeface="Microsoft YaHei"/>
                  <a:cs typeface="Calibri"/>
                </a:rPr>
                <a:t>为什么不能用 K8s HPA？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5904" y="1565910"/>
              <a:ext cx="58582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CA5A5"/>
                  </a:solidFill>
                  <a:latin typeface="Calibri"/>
                  <a:ea typeface="Microsoft YaHei"/>
                  <a:cs typeface="Calibri"/>
                </a:rPr>
                <a:t>GPU 满载推理时 CPU 可能很闲 → HPA 看 CPU 5% 觉得"资源充足"甚至触发缩容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6666" y="1791652"/>
              <a:ext cx="40985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CPU Worker 用 HPA 足够，GPU Worker 需要自定义 Autoscaler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63118" y="2298382"/>
            <a:ext cx="5532882" cy="1892618"/>
            <a:chOff x="563118" y="2298382"/>
            <a:chExt cx="5532882" cy="1892618"/>
          </a:xfrm>
        </p:grpSpPr>
        <p:sp>
          <p:nvSpPr>
            <p:cNvPr id="10" name="TextBox 10"/>
            <p:cNvSpPr txBox="1"/>
            <p:nvPr/>
          </p:nvSpPr>
          <p:spPr>
            <a:xfrm>
              <a:off x="563118" y="2298382"/>
              <a:ext cx="19886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B82F6"/>
                  </a:solidFill>
                  <a:latin typeface="Calibri"/>
                  <a:ea typeface="Microsoft YaHei"/>
                  <a:cs typeface="Calibri"/>
                </a:rPr>
                <a:t>自定义 Autoscaler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71500" y="2667000"/>
              <a:ext cx="5524500" cy="1524000"/>
            </a:xfrm>
            <a:prstGeom prst="roundRect">
              <a:avLst>
                <a:gd name="adj" fmla="val 7500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55904" y="282321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核心指标：任务队列积压深度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6285" y="3117056"/>
              <a:ext cx="11723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每 30 秒检查一次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6285" y="335518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扩容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32535" y="3355181"/>
              <a:ext cx="30069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Worker ≤ 队列长度/2 且有 terminated Pod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6285" y="35933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59E0B"/>
                  </a:solidFill>
                  <a:latin typeface="Calibri"/>
                  <a:ea typeface="Microsoft YaHei"/>
                  <a:cs typeface="Calibri"/>
                </a:rPr>
                <a:t>缩容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32535" y="3593306"/>
              <a:ext cx="25179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空闲超阈值 且 Running &gt; MinWorker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6666" y="3887152"/>
              <a:ext cx="29715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扩容 = 唤醒 terminated Pod，不是创建新 Pod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373368" y="2298382"/>
            <a:ext cx="5247132" cy="1892618"/>
            <a:chOff x="6373368" y="2298382"/>
            <a:chExt cx="5247132" cy="1892618"/>
          </a:xfrm>
        </p:grpSpPr>
        <p:sp>
          <p:nvSpPr>
            <p:cNvPr id="20" name="TextBox 20"/>
            <p:cNvSpPr txBox="1"/>
            <p:nvPr/>
          </p:nvSpPr>
          <p:spPr>
            <a:xfrm>
              <a:off x="6373368" y="22983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五个防护机制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381750" y="2667000"/>
              <a:ext cx="5238750" cy="1524000"/>
            </a:xfrm>
            <a:prstGeom prst="roundRect">
              <a:avLst>
                <a:gd name="adj" fmla="val 7500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66154" y="2842260"/>
              <a:ext cx="802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B82F6"/>
                  </a:solidFill>
                  <a:latin typeface="Calibri"/>
                  <a:ea typeface="Microsoft YaHei"/>
                  <a:cs typeface="Calibri"/>
                </a:rPr>
                <a:t>① 冷却机制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95285" y="2850356"/>
              <a:ext cx="17473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Redis ZSet 记录操作历史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66154" y="3108960"/>
              <a:ext cx="802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② 优雅下线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95285" y="3117056"/>
              <a:ext cx="15486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只对空闲 Worker 缩容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66154" y="3375660"/>
              <a:ext cx="9640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③ 最小副本数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33410" y="33837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不会缩到零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66154" y="3642360"/>
              <a:ext cx="802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59E0B"/>
                  </a:solidFill>
                  <a:latin typeface="Calibri"/>
                  <a:ea typeface="Microsoft YaHei"/>
                  <a:cs typeface="Calibri"/>
                </a:rPr>
                <a:t>④ 安全检查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95285" y="3650456"/>
              <a:ext cx="18508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pending/terminating 跳过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66154" y="3909060"/>
              <a:ext cx="11972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F4444"/>
                  </a:solidFill>
                  <a:latin typeface="Calibri"/>
                  <a:ea typeface="Microsoft YaHei"/>
                  <a:cs typeface="Calibri"/>
                </a:rPr>
                <a:t>⑤ SetNX 互斥锁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81035" y="39171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多实例只有一个执行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71500" y="4572000"/>
            <a:ext cx="11049000" cy="1714500"/>
            <a:chOff x="571500" y="4572000"/>
            <a:chExt cx="11049000" cy="1714500"/>
          </a:xfrm>
        </p:grpSpPr>
        <p:sp>
          <p:nvSpPr>
            <p:cNvPr id="33" name="Rectangle 33"/>
            <p:cNvSpPr/>
            <p:nvPr/>
          </p:nvSpPr>
          <p:spPr>
            <a:xfrm>
              <a:off x="571500" y="4572000"/>
              <a:ext cx="11049000" cy="1714500"/>
            </a:xfrm>
            <a:prstGeom prst="roundRect">
              <a:avLst>
                <a:gd name="adj" fmla="val 6667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5142" y="47596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技术细节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6285" y="5098256"/>
              <a:ext cx="54341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冷却机制：Redis ZSet 记录操作历史，存在历史记录则跳过本轮（简化版冷却）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6285" y="5364956"/>
              <a:ext cx="44011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互斥锁：基于 Redis SetNX，固定 180s TTL（非 Redlock 语义）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6285" y="5631656"/>
              <a:ext cx="56712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安全检查：有 Worker 处于 pending/terminating → 本轮直接跳过，防止雪崩式超扩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6285" y="5955506"/>
              <a:ext cx="37958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目标：防频繁扩缩(thrashing) · 防超扩 · 保证最小可用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7784" y="356235"/>
            <a:ext cx="5479542" cy="528066"/>
            <a:chOff x="557784" y="356235"/>
            <a:chExt cx="5479542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557784" y="356235"/>
              <a:ext cx="547954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容错降级：三层重试与供应商切换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781050"/>
              <a:ext cx="1143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B82F6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1500" y="1047750"/>
            <a:ext cx="11049000" cy="1333500"/>
            <a:chOff x="571500" y="1047750"/>
            <a:chExt cx="11049000" cy="1333500"/>
          </a:xfrm>
        </p:grpSpPr>
        <p:sp>
          <p:nvSpPr>
            <p:cNvPr id="5" name="Rectangle 5"/>
            <p:cNvSpPr/>
            <p:nvPr/>
          </p:nvSpPr>
          <p:spPr>
            <a:xfrm>
              <a:off x="571500" y="1047750"/>
              <a:ext cx="11049000" cy="1333500"/>
            </a:xfrm>
            <a:prstGeom prst="roundRect">
              <a:avLst>
                <a:gd name="adj" fmla="val 8571"/>
              </a:avLst>
            </a:prstGeom>
            <a:solidFill>
              <a:srgbClr val="1E293B"/>
            </a:solidFill>
            <a:ln w="14288">
              <a:solidFill>
                <a:srgbClr val="3B82F6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762000" y="1219200"/>
              <a:ext cx="666750" cy="266700"/>
            </a:xfrm>
            <a:prstGeom prst="roundRect">
              <a:avLst>
                <a:gd name="adj" fmla="val 21429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8014" y="12963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第一层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10868" y="1231582"/>
              <a:ext cx="41316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executeWithRetry — 同供应商快速重试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6404" y="1584960"/>
              <a:ext cx="25128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 xml:space="preserve">最多 3 次 · 指数退避 </a:t>
              </a:r>
              <a:r>
                <a:rPr lang="en-US" sz="1200" b="1" dirty="0">
                  <a:solidFill>
                    <a:srgbClr val="3B82F6"/>
                  </a:solidFill>
                  <a:latin typeface="Calibri"/>
                  <a:ea typeface="Calibri"/>
                  <a:cs typeface="Calibri"/>
                </a:rPr>
                <a:t>1s → 2s → 4s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6404" y="1851660"/>
              <a:ext cx="49264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匹配：网络超时 · 连接拒绝 · TCP 错误 · 502+ 且 body 含超时特征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6404" y="2099310"/>
              <a:ext cx="35500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59E0B"/>
                  </a:solidFill>
                  <a:latin typeface="Calibri"/>
                  <a:ea typeface="Microsoft YaHei"/>
                  <a:cs typeface="Calibri"/>
                </a:rPr>
                <a:t>429 限流不在这里处理 · 最后一次失败不再 sleep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1500" y="2571750"/>
            <a:ext cx="11049000" cy="1333500"/>
            <a:chOff x="571500" y="2571750"/>
            <a:chExt cx="11049000" cy="1333500"/>
          </a:xfrm>
        </p:grpSpPr>
        <p:sp>
          <p:nvSpPr>
            <p:cNvPr id="13" name="Rectangle 13"/>
            <p:cNvSpPr/>
            <p:nvPr/>
          </p:nvSpPr>
          <p:spPr>
            <a:xfrm>
              <a:off x="571500" y="2571750"/>
              <a:ext cx="11049000" cy="1333500"/>
            </a:xfrm>
            <a:prstGeom prst="roundRect">
              <a:avLst>
                <a:gd name="adj" fmla="val 8571"/>
              </a:avLst>
            </a:prstGeom>
            <a:solidFill>
              <a:srgbClr val="1E293B"/>
            </a:solidFill>
            <a:ln w="14288">
              <a:solidFill>
                <a:srgbClr val="06B6D4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762000" y="2743200"/>
              <a:ext cx="666750" cy="266700"/>
            </a:xfrm>
            <a:prstGeom prst="roundRect">
              <a:avLst>
                <a:gd name="adj" fmla="val 21429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78014" y="28203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第二层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10868" y="2755582"/>
              <a:ext cx="32614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queue-retry — 429 限流长退避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3108960"/>
              <a:ext cx="53618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 xml:space="preserve">针对 PT 模型白名单 · 退避阶梯 </a:t>
              </a:r>
              <a:r>
                <a:rPr lang="en-US" sz="1200" b="1" dirty="0">
                  <a:solidFill>
                    <a:srgbClr val="06B6D4"/>
                  </a:solidFill>
                  <a:latin typeface="Calibri"/>
                  <a:ea typeface="Calibri"/>
                  <a:cs typeface="Calibri"/>
                </a:rPr>
                <a:t>3s → 6s → 12s → 24s → 48s → 60s(cap)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404" y="3375660"/>
              <a:ext cx="38327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倍数 2.0 · 抖动 ±20%（避免惊群） · 最长等 12 小时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3623310"/>
              <a:ext cx="29974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59E0B"/>
                  </a:solidFill>
                  <a:latin typeface="Calibri"/>
                  <a:ea typeface="Microsoft YaHei"/>
                  <a:cs typeface="Calibri"/>
                </a:rPr>
                <a:t>超时后标记为可重试 → 触发外层 Fallback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71500" y="4095750"/>
            <a:ext cx="11049000" cy="1333500"/>
            <a:chOff x="571500" y="4095750"/>
            <a:chExt cx="11049000" cy="1333500"/>
          </a:xfrm>
        </p:grpSpPr>
        <p:sp>
          <p:nvSpPr>
            <p:cNvPr id="21" name="Rectangle 21"/>
            <p:cNvSpPr/>
            <p:nvPr/>
          </p:nvSpPr>
          <p:spPr>
            <a:xfrm>
              <a:off x="571500" y="4095750"/>
              <a:ext cx="11049000" cy="1333500"/>
            </a:xfrm>
            <a:prstGeom prst="roundRect">
              <a:avLst>
                <a:gd name="adj" fmla="val 8571"/>
              </a:avLst>
            </a:prstGeom>
            <a:solidFill>
              <a:srgbClr val="1E293B"/>
            </a:solidFill>
            <a:ln w="14288">
              <a:solidFill>
                <a:srgbClr val="22D3EE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762000" y="4267200"/>
              <a:ext cx="666750" cy="266700"/>
            </a:xfrm>
            <a:prstGeom prst="roundRect">
              <a:avLst>
                <a:gd name="adj" fmla="val 21429"/>
              </a:avLst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78014" y="43443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1120"/>
                  </a:solidFill>
                  <a:latin typeface="Calibri"/>
                  <a:ea typeface="Microsoft YaHei"/>
                  <a:cs typeface="Calibri"/>
                </a:rPr>
                <a:t>第三层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610868" y="4279582"/>
              <a:ext cx="364030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Fallback chain — 供应商间线性切换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404" y="4632960"/>
              <a:ext cx="24030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主供应商 → 备用 1 → 备用 2 → ...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404" y="4899660"/>
              <a:ext cx="48047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无状态 per-request：不维护熔断器，每个新请求从主供应商开始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404" y="5166360"/>
              <a:ext cx="46178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按模型粒度配置在 MongoDB dreamworker_fallback_rule 集合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1500" y="5619750"/>
            <a:ext cx="11049000" cy="762000"/>
            <a:chOff x="571500" y="5619750"/>
            <a:chExt cx="11049000" cy="762000"/>
          </a:xfrm>
        </p:grpSpPr>
        <p:sp>
          <p:nvSpPr>
            <p:cNvPr id="29" name="Rectangle 29"/>
            <p:cNvSpPr/>
            <p:nvPr/>
          </p:nvSpPr>
          <p:spPr>
            <a:xfrm>
              <a:off x="571500" y="5619750"/>
              <a:ext cx="11049000" cy="762000"/>
            </a:xfrm>
            <a:prstGeom prst="roundRect">
              <a:avLst>
                <a:gd name="adj" fmla="val 12500"/>
              </a:avLst>
            </a:prstGeom>
            <a:solidFill>
              <a:srgbClr val="172554">
                <a:alpha val="60000"/>
              </a:srgbClr>
            </a:solidFill>
            <a:ln w="9525">
              <a:solidFill>
                <a:srgbClr val="F59E0B"/>
              </a:solidFill>
              <a:prstDash val="lgDash"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55142" y="5807392"/>
              <a:ext cx="34717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9E0B"/>
                  </a:solidFill>
                  <a:latin typeface="Calibri"/>
                  <a:ea typeface="Microsoft YaHei"/>
                  <a:cs typeface="Calibri"/>
                </a:rPr>
                <a:t>可优化方向：熔断器（Circuit Breaker）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6285" y="6088856"/>
              <a:ext cx="48280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故障期间直接跳过主供应商 → 减少用户等待时间 · Half-Open 探测恢复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120"/>
            </a:gs>
            <a:gs pos="100000">
              <a:srgbClr val="0F1D3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7784" y="356235"/>
            <a:ext cx="1844802" cy="528066"/>
            <a:chOff x="557784" y="356235"/>
            <a:chExt cx="1844802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557784" y="356235"/>
              <a:ext cx="184480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总结与回顾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781050"/>
              <a:ext cx="1143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B82F6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71500" y="1047750"/>
            <a:ext cx="11049000" cy="952500"/>
            <a:chOff x="571500" y="1047750"/>
            <a:chExt cx="11049000" cy="952500"/>
          </a:xfrm>
        </p:grpSpPr>
        <p:sp>
          <p:nvSpPr>
            <p:cNvPr id="5" name="Rectangle 5"/>
            <p:cNvSpPr/>
            <p:nvPr/>
          </p:nvSpPr>
          <p:spPr>
            <a:xfrm>
              <a:off x="571500" y="1047750"/>
              <a:ext cx="11049000" cy="952500"/>
            </a:xfrm>
            <a:prstGeom prst="roundRect">
              <a:avLst>
                <a:gd name="adj" fmla="val 12000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5142" y="123539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全链路回顾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5904" y="1565910"/>
              <a:ext cx="80488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用户操作 → Electron 画布 → 本地 Agent 服务 → 云端 Scheduler → Worker → 外部供应商 → 结果回传 → 前端展示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71500" y="2190750"/>
            <a:ext cx="3524250" cy="2095500"/>
            <a:chOff x="571500" y="2190750"/>
            <a:chExt cx="3524250" cy="2095500"/>
          </a:xfrm>
        </p:grpSpPr>
        <p:sp>
          <p:nvSpPr>
            <p:cNvPr id="9" name="Rectangle 9"/>
            <p:cNvSpPr/>
            <p:nvPr/>
          </p:nvSpPr>
          <p:spPr>
            <a:xfrm>
              <a:off x="571500" y="2190750"/>
              <a:ext cx="3524250" cy="2095500"/>
            </a:xfrm>
            <a:prstGeom prst="roundRect">
              <a:avLst>
                <a:gd name="adj" fmla="val 5455"/>
              </a:avLst>
            </a:prstGeom>
            <a:solidFill>
              <a:srgbClr val="1E293B"/>
            </a:solidFill>
            <a:ln w="14288">
              <a:solidFill>
                <a:srgbClr val="3B82F6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762000" y="2362200"/>
              <a:ext cx="1143000" cy="266700"/>
            </a:xfrm>
            <a:prstGeom prst="roundRect">
              <a:avLst>
                <a:gd name="adj" fmla="val 21429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56314" y="2439352"/>
              <a:ext cx="7543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Agent 服务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5904" y="27755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全链路流式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6666" y="3029902"/>
              <a:ext cx="20226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Token 从 AIGW 流到前端无阻塞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5904" y="3299460"/>
              <a:ext cx="1036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ReAct 状态机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6666" y="3553778"/>
              <a:ext cx="19988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LangGraph + DeepAgents 框架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5904" y="3823335"/>
              <a:ext cx="7568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HITL 审批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6666" y="4077652"/>
              <a:ext cx="18552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异常驱动中断 + asyncio 恢复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333875" y="2190750"/>
            <a:ext cx="3524250" cy="2095500"/>
            <a:chOff x="4333875" y="2190750"/>
            <a:chExt cx="3524250" cy="2095500"/>
          </a:xfrm>
        </p:grpSpPr>
        <p:sp>
          <p:nvSpPr>
            <p:cNvPr id="19" name="Rectangle 19"/>
            <p:cNvSpPr/>
            <p:nvPr/>
          </p:nvSpPr>
          <p:spPr>
            <a:xfrm>
              <a:off x="4333875" y="2190750"/>
              <a:ext cx="3524250" cy="2095500"/>
            </a:xfrm>
            <a:prstGeom prst="roundRect">
              <a:avLst>
                <a:gd name="adj" fmla="val 5455"/>
              </a:avLst>
            </a:prstGeom>
            <a:solidFill>
              <a:srgbClr val="1E293B"/>
            </a:solidFill>
            <a:ln w="14288">
              <a:solidFill>
                <a:srgbClr val="06B6D4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24375" y="2362200"/>
              <a:ext cx="1143000" cy="266700"/>
            </a:xfrm>
            <a:prstGeom prst="roundRect">
              <a:avLst>
                <a:gd name="adj" fmla="val 21429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739564" y="2439352"/>
              <a:ext cx="7126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Scheduler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18279" y="277558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加权轮询调度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19041" y="3029902"/>
              <a:ext cx="11626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防饥饿 + 降序兜底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18279" y="32994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无锁抢占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19041" y="3553778"/>
              <a:ext cx="17580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ZREM 原子语义，乐观并发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18279" y="3823335"/>
              <a:ext cx="16438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etcd Watch 并发管控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19041" y="4077652"/>
              <a:ext cx="20845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内存原子计数 + 多 Pod 最终一致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096250" y="2190750"/>
            <a:ext cx="3524250" cy="2095500"/>
            <a:chOff x="8096250" y="2190750"/>
            <a:chExt cx="3524250" cy="2095500"/>
          </a:xfrm>
        </p:grpSpPr>
        <p:sp>
          <p:nvSpPr>
            <p:cNvPr id="29" name="Rectangle 29"/>
            <p:cNvSpPr/>
            <p:nvPr/>
          </p:nvSpPr>
          <p:spPr>
            <a:xfrm>
              <a:off x="8096250" y="2190750"/>
              <a:ext cx="3524250" cy="2095500"/>
            </a:xfrm>
            <a:prstGeom prst="roundRect">
              <a:avLst>
                <a:gd name="adj" fmla="val 5455"/>
              </a:avLst>
            </a:prstGeom>
            <a:solidFill>
              <a:srgbClr val="1E293B"/>
            </a:solidFill>
            <a:ln w="14288">
              <a:solidFill>
                <a:srgbClr val="22D3EE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8286750" y="2362200"/>
              <a:ext cx="1143000" cy="266700"/>
            </a:xfrm>
            <a:prstGeom prst="roundRect">
              <a:avLst>
                <a:gd name="adj" fmla="val 21429"/>
              </a:avLst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590733" y="2439352"/>
              <a:ext cx="5350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B1120"/>
                  </a:solidFill>
                  <a:latin typeface="Calibri"/>
                  <a:ea typeface="Calibri"/>
                  <a:cs typeface="Calibri"/>
                </a:rPr>
                <a:t>Worker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80654" y="27755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三层容错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81416" y="3029902"/>
              <a:ext cx="21672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快速重试 → 429 长退避 → Fallback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80654" y="3299460"/>
              <a:ext cx="13858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GPU 自定义扩缩容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81416" y="3553778"/>
              <a:ext cx="15867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队列深度驱动 + 五重防护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80654" y="3823335"/>
              <a:ext cx="13151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Worker 注册发现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81416" y="4077652"/>
              <a:ext cx="19380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etcd Lease + 心跳 + 自动清理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71500" y="4572000"/>
            <a:ext cx="11049000" cy="762000"/>
            <a:chOff x="571500" y="4572000"/>
            <a:chExt cx="11049000" cy="762000"/>
          </a:xfrm>
        </p:grpSpPr>
        <p:sp>
          <p:nvSpPr>
            <p:cNvPr id="39" name="Rectangle 39"/>
            <p:cNvSpPr/>
            <p:nvPr/>
          </p:nvSpPr>
          <p:spPr>
            <a:xfrm>
              <a:off x="571500" y="4572000"/>
              <a:ext cx="11049000" cy="762000"/>
            </a:xfrm>
            <a:prstGeom prst="roundRect">
              <a:avLst>
                <a:gd name="adj" fmla="val 15000"/>
              </a:avLst>
            </a:prstGeom>
            <a:solidFill>
              <a:srgbClr val="172554">
                <a:alpha val="60000"/>
              </a:srgbClr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813173" y="4802505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谢谢大家，欢迎交流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m-system-overview">
  <a:themeElements>
    <a:clrScheme name="dm-system-overview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m-system-overview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m-system-over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dm-system-overview">
  <a:themeElements>
    <a:clrScheme name="dm-system-overview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m-system-overview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m-system-over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2026-09-03T09:28:12Z</dcterms:created>
  <dcterms:modified xsi:type="dcterms:W3CDTF">2026-09-03T09:28:12Z</dcterms:modified>
  <cp:category/>
  <cp:contentStatus/>
</cp:coreProperties>
</file>